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F1D2F-C770-4356-BDFF-69948740831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1C94B-8826-42C4-B3F0-C7FFA6D61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970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1C94B-8826-42C4-B3F0-C7FFA6D618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6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896" y="-329184"/>
            <a:ext cx="12755880" cy="727862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56469"/>
            <a:ext cx="228153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577655"/>
            <a:ext cx="9124950" cy="52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289869"/>
            <a:ext cx="9581197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 dirty="0">
                <a:solidFill>
                  <a:srgbClr val="FFFFFF"/>
                </a:solidFill>
                <a:latin typeface="Space Grotesk"/>
              </a:rPr>
              <a:t>Scholarship &amp; Financial Aid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63255"/>
            <a:ext cx="9124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A normalized, constraint-enforced Relational Database Management System (RDBMS) designed to automate university scholarship schemes, verifications, and disbursements.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777680"/>
            <a:ext cx="22193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Architecture</a:t>
            </a:r>
            <a:r>
              <a:rPr sz="1200" b="0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Plus Jakarta Sans SemiBold"/>
              </a:rPr>
              <a:t>Relational Model &amp; 3NF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8950" y="4777680"/>
            <a:ext cx="20669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Engine Support</a:t>
            </a:r>
            <a:r>
              <a:rPr sz="1200" b="0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Plus Jakarta Sans SemiBold"/>
              </a:rPr>
              <a:t>MySQL / PostgreSQL / 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4475" y="4777680"/>
            <a:ext cx="1943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Interface</a:t>
            </a:r>
            <a:r>
              <a:rPr sz="1200" b="0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Plus Jakarta Sans SemiBold"/>
              </a:rPr>
              <a:t>Java / Python UI Application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12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628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6" y="1153668"/>
            <a:ext cx="5362575" cy="41803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181100"/>
            <a:ext cx="5362575" cy="519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1495425"/>
            <a:ext cx="4970621" cy="253916"/>
          </a:xfrm>
          <a:prstGeom prst="rect">
            <a:avLst/>
          </a:prstGeom>
          <a:noFill/>
        </p:spPr>
        <p:txBody>
          <a:bodyPr wrap="square" lIns="281582" tIns="0" rIns="0" bIns="0" anchor="t">
            <a:spAutoFit/>
          </a:bodyPr>
          <a:lstStyle/>
          <a:p>
            <a:pPr algn="l"/>
            <a:r>
              <a:rPr lang="en-IN" sz="1650" b="1" i="0" u="none" dirty="0">
                <a:solidFill>
                  <a:srgbClr val="38BDF8"/>
                </a:solidFill>
                <a:latin typeface="Space Grotesk"/>
              </a:rPr>
              <a:t> Problem Statement</a:t>
            </a:r>
            <a:endParaRPr sz="165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5350" y="1895475"/>
            <a:ext cx="4733925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Currently, universities process scholarships manually or through disjointed systems. This leads to severe delays in financial aid distribution, a high risk of duplicate or fraudulent claims, lost documents, and a lack of transparency for students waiting for funds.</a:t>
            </a:r>
            <a:endParaRPr sz="14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2725" y="1495425"/>
            <a:ext cx="4970621" cy="253916"/>
          </a:xfrm>
          <a:prstGeom prst="rect">
            <a:avLst/>
          </a:prstGeom>
          <a:noFill/>
        </p:spPr>
        <p:txBody>
          <a:bodyPr wrap="square" lIns="281582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38BDF8"/>
                </a:solidFill>
                <a:latin typeface="Space Grotesk"/>
              </a:rPr>
              <a:t>Objectives</a:t>
            </a:r>
            <a:r>
              <a:rPr lang="en-IN" sz="1650" b="1" i="0" u="none" dirty="0">
                <a:solidFill>
                  <a:srgbClr val="38BDF8"/>
                </a:solidFill>
                <a:latin typeface="Space Grotesk"/>
              </a:rPr>
              <a:t>:</a:t>
            </a:r>
            <a:endParaRPr sz="165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62725" y="1895475"/>
            <a:ext cx="4733925" cy="71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chemeClr val="bg1"/>
                </a:solidFill>
                <a:latin typeface="Plus Jakarta Sans"/>
              </a:rPr>
              <a:t>Architect a centralized relational database normalized up to 3NF to streamline scheme setup, eligibility verification, and sanction tracking</a:t>
            </a:r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626816"/>
            <a:ext cx="4733925" cy="71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chemeClr val="bg1"/>
                </a:solidFill>
                <a:latin typeface="Plus Jakarta Sans"/>
              </a:rPr>
              <a:t>Enforce strict business rules via SQL constraints (PK, FK, UNIQUE, CHECK), ACID compliance, transactional integrity, and front-end interface integration.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524000"/>
            <a:ext cx="205382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1524000"/>
            <a:ext cx="205382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Problem Statement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DBB483-675C-B1CC-F3F5-14763B61D345}"/>
              </a:ext>
            </a:extLst>
          </p:cNvPr>
          <p:cNvSpPr txBox="1"/>
          <p:nvPr/>
        </p:nvSpPr>
        <p:spPr>
          <a:xfrm>
            <a:off x="581026" y="3175084"/>
            <a:ext cx="4970621" cy="253916"/>
          </a:xfrm>
          <a:prstGeom prst="rect">
            <a:avLst/>
          </a:prstGeom>
          <a:noFill/>
        </p:spPr>
        <p:txBody>
          <a:bodyPr wrap="square" lIns="281582" tIns="0" rIns="0" bIns="0" anchor="t">
            <a:spAutoFit/>
          </a:bodyPr>
          <a:lstStyle/>
          <a:p>
            <a:pPr algn="l"/>
            <a:r>
              <a:rPr lang="en-IN" sz="1650" b="1" i="0" u="none" dirty="0">
                <a:solidFill>
                  <a:srgbClr val="38BDF8"/>
                </a:solidFill>
                <a:latin typeface="Space Grotesk"/>
              </a:rPr>
              <a:t>Scope:</a:t>
            </a:r>
            <a:endParaRPr sz="165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20AD8A-9563-E863-A692-B0A6B9A90A8A}"/>
              </a:ext>
            </a:extLst>
          </p:cNvPr>
          <p:cNvSpPr txBox="1"/>
          <p:nvPr/>
        </p:nvSpPr>
        <p:spPr>
          <a:xfrm>
            <a:off x="895349" y="3614737"/>
            <a:ext cx="4733925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The system will manage the end-to-end lifecycle of university scholarships, starting from the setup of scholarship schemes by administrators to application submission by students, document verification, multi-stage approvals, and final financial disbursement and renewal tracking.</a:t>
            </a:r>
            <a:endParaRPr sz="14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CBCD6E-2423-E80A-1C58-8AD8E5EB7488}"/>
              </a:ext>
            </a:extLst>
          </p:cNvPr>
          <p:cNvSpPr txBox="1"/>
          <p:nvPr/>
        </p:nvSpPr>
        <p:spPr>
          <a:xfrm>
            <a:off x="6326029" y="3622759"/>
            <a:ext cx="4970621" cy="253916"/>
          </a:xfrm>
          <a:prstGeom prst="rect">
            <a:avLst/>
          </a:prstGeom>
          <a:noFill/>
        </p:spPr>
        <p:txBody>
          <a:bodyPr wrap="square" lIns="281582" tIns="0" rIns="0" bIns="0" anchor="t">
            <a:spAutoFit/>
          </a:bodyPr>
          <a:lstStyle/>
          <a:p>
            <a:r>
              <a:rPr lang="en-IN" sz="1650" b="1" i="0" u="none" dirty="0">
                <a:solidFill>
                  <a:srgbClr val="38BDF8"/>
                </a:solidFill>
                <a:latin typeface="Space Grotesk"/>
              </a:rPr>
              <a:t>Users and Roles: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2BE27C-7478-0008-4F30-8E4D0BC104C5}"/>
              </a:ext>
            </a:extLst>
          </p:cNvPr>
          <p:cNvSpPr txBox="1"/>
          <p:nvPr/>
        </p:nvSpPr>
        <p:spPr>
          <a:xfrm>
            <a:off x="6178677" y="4077736"/>
            <a:ext cx="4733925" cy="1953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1"/>
            <a:r>
              <a:rPr lang="en-IN" sz="1400" b="1" dirty="0">
                <a:solidFill>
                  <a:schemeClr val="bg1"/>
                </a:solidFill>
              </a:rPr>
              <a:t>Student:</a:t>
            </a:r>
            <a:r>
              <a:rPr lang="en-IN" sz="1400" dirty="0">
                <a:solidFill>
                  <a:schemeClr val="bg1"/>
                </a:solidFill>
              </a:rPr>
              <a:t> Can apply, upload documents, and track status.</a:t>
            </a:r>
          </a:p>
          <a:p>
            <a:pPr lvl="1"/>
            <a:r>
              <a:rPr lang="en-IN" sz="1400" b="1" dirty="0">
                <a:solidFill>
                  <a:schemeClr val="bg1"/>
                </a:solidFill>
              </a:rPr>
              <a:t>Scholarship Officer:</a:t>
            </a:r>
            <a:r>
              <a:rPr lang="en-IN" sz="1400" dirty="0">
                <a:solidFill>
                  <a:schemeClr val="bg1"/>
                </a:solidFill>
              </a:rPr>
              <a:t> Verifies documents and checks initial eligibility.</a:t>
            </a:r>
          </a:p>
          <a:p>
            <a:pPr lvl="1"/>
            <a:r>
              <a:rPr lang="en-IN" sz="1400" b="1" dirty="0">
                <a:solidFill>
                  <a:schemeClr val="bg1"/>
                </a:solidFill>
              </a:rPr>
              <a:t>University Admin/Approver:</a:t>
            </a:r>
            <a:r>
              <a:rPr lang="en-IN" sz="1400" dirty="0">
                <a:solidFill>
                  <a:schemeClr val="bg1"/>
                </a:solidFill>
              </a:rPr>
              <a:t> Finalizes sanctions and approves renewals.</a:t>
            </a:r>
          </a:p>
          <a:p>
            <a:pPr lvl="1"/>
            <a:r>
              <a:rPr lang="en-IN" sz="1400" b="1" dirty="0">
                <a:solidFill>
                  <a:schemeClr val="bg1"/>
                </a:solidFill>
              </a:rPr>
              <a:t>Finance Officer:</a:t>
            </a:r>
            <a:r>
              <a:rPr lang="en-IN" sz="1400" dirty="0">
                <a:solidFill>
                  <a:schemeClr val="bg1"/>
                </a:solidFill>
              </a:rPr>
              <a:t> Processes disbursements and verifies bank details.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pPr algn="l">
              <a:lnSpc>
                <a:spcPts val="1920"/>
              </a:lnSpc>
            </a:pPr>
            <a:endParaRPr sz="1400" b="0" i="0" u="none" dirty="0">
              <a:solidFill>
                <a:schemeClr val="bg1"/>
              </a:solidFill>
              <a:latin typeface="Plus Jakart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7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00"/>
                            </p:stCondLst>
                            <p:childTnLst>
                              <p:par>
                                <p:cTn id="49" presetID="16" presetClass="entr" presetSubtype="2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7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2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700"/>
                            </p:stCondLst>
                            <p:childTnLst>
                              <p:par>
                                <p:cTn id="6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20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3" grpId="0"/>
      <p:bldP spid="14" grpId="0"/>
      <p:bldP spid="16" grpId="0"/>
      <p:bldP spid="20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18766"/>
            <a:ext cx="8837296" cy="26464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2649235"/>
            <a:ext cx="8048244" cy="2149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N" sz="1400" b="1" dirty="0">
                <a:solidFill>
                  <a:schemeClr val="bg1"/>
                </a:solidFill>
              </a:rPr>
              <a:t>1:</a:t>
            </a:r>
            <a:r>
              <a:rPr lang="en-IN" sz="1400" dirty="0">
                <a:solidFill>
                  <a:schemeClr val="bg1"/>
                </a:solidFill>
              </a:rPr>
              <a:t> The system must allow administrators to define new scholarship schemes and eligibility criteria.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2:</a:t>
            </a:r>
            <a:r>
              <a:rPr lang="en-IN" sz="1400" dirty="0">
                <a:solidFill>
                  <a:schemeClr val="bg1"/>
                </a:solidFill>
              </a:rPr>
              <a:t> The system must allow students to submit applications and upload supporting verification documents.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3:</a:t>
            </a:r>
            <a:r>
              <a:rPr lang="en-IN" sz="1400" dirty="0">
                <a:solidFill>
                  <a:schemeClr val="bg1"/>
                </a:solidFill>
              </a:rPr>
              <a:t> The system must enforce mandatory document verification before an application moves to the approval stage.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4:</a:t>
            </a:r>
            <a:r>
              <a:rPr lang="en-IN" sz="1400" dirty="0">
                <a:solidFill>
                  <a:schemeClr val="bg1"/>
                </a:solidFill>
              </a:rPr>
              <a:t> The system must validate that a student's bank details are complete before generating a disbursement record.</a:t>
            </a:r>
          </a:p>
          <a:p>
            <a:pPr algn="l">
              <a:lnSpc>
                <a:spcPts val="1743"/>
              </a:lnSpc>
            </a:pPr>
            <a:endParaRPr sz="14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1025" y="49435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2550" b="1" i="0" u="none" dirty="0">
                <a:solidFill>
                  <a:srgbClr val="FFFFFF"/>
                </a:solidFill>
                <a:latin typeface="Space Grotesk"/>
              </a:rPr>
              <a:t>Functional Requirements:</a:t>
            </a:r>
            <a:endParaRPr sz="255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6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"/>
                            </p:stCondLst>
                            <p:childTnLst>
                              <p:par>
                                <p:cTn id="21" presetID="16" presetClass="entr" presetSubtype="2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Conceptual ER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1181100"/>
            <a:ext cx="559069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Entity &amp; Relationship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562100"/>
            <a:ext cx="53244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The system models key domain entities including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Students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Schemes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Eligibility Criteria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Applications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Documents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Verifications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Sanctions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, and </a:t>
            </a:r>
            <a:r>
              <a:rPr sz="1400" b="1" i="0" u="none" dirty="0">
                <a:solidFill>
                  <a:srgbClr val="F8FAFC"/>
                </a:solidFill>
                <a:latin typeface="Plus Jakarta Sans"/>
              </a:rPr>
              <a:t>Disbursements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70138"/>
            <a:ext cx="53244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Cardinality constraints ensure a 1:N relationship between Students and Applications, and a 1:1 binding between approved Sanctions and Bank Details for secure transaction payouts.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946D3E1-4ACC-D9E4-6798-06D624574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A11AC9E-10F6-6DCC-3D4F-D7AF3776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5925"/>
            <a:ext cx="3492400" cy="44196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4D52F31-3360-6D12-27C1-F161E18D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685925"/>
            <a:ext cx="3492549" cy="44196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68BB77AC-2658-1FA2-0C43-FB455D8A5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50" y="1685925"/>
            <a:ext cx="3492400" cy="441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C8E577-57E2-76D2-D7F3-C9F912C9EF78}"/>
              </a:ext>
            </a:extLst>
          </p:cNvPr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Urbanist SemiBold"/>
              </a:rPr>
              <a:t>Transactional </a:t>
            </a:r>
            <a:r>
              <a:rPr sz="3600" b="0" i="0" u="none">
                <a:solidFill>
                  <a:srgbClr val="16C5D4"/>
                </a:solidFill>
                <a:latin typeface="Urbanist SemiBold"/>
              </a:rPr>
              <a:t>Entities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29ABA-56C9-2C06-FD52-5A742283DBCB}"/>
              </a:ext>
            </a:extLst>
          </p:cNvPr>
          <p:cNvSpPr txBox="1"/>
          <p:nvPr/>
        </p:nvSpPr>
        <p:spPr>
          <a:xfrm>
            <a:off x="942975" y="2667000"/>
            <a:ext cx="292692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C5D4"/>
                </a:solidFill>
                <a:latin typeface="Urbanist SemiBold"/>
              </a:rPr>
              <a:t>DOCUMENT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1A2F3-F154-3F88-5BD9-4C0CB2F4064D}"/>
              </a:ext>
            </a:extLst>
          </p:cNvPr>
          <p:cNvSpPr txBox="1"/>
          <p:nvPr/>
        </p:nvSpPr>
        <p:spPr>
          <a:xfrm>
            <a:off x="942975" y="3133725"/>
            <a:ext cx="27875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E2E8F0"/>
                </a:solidFill>
                <a:latin typeface="Urbanist"/>
              </a:rPr>
              <a:t>Handles the mandatory verification rule for applications.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E8F26-A2E3-CCC4-9575-FEC771368081}"/>
              </a:ext>
            </a:extLst>
          </p:cNvPr>
          <p:cNvSpPr txBox="1"/>
          <p:nvPr/>
        </p:nvSpPr>
        <p:spPr>
          <a:xfrm>
            <a:off x="4721125" y="2667000"/>
            <a:ext cx="292708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C5D4"/>
                </a:solidFill>
                <a:latin typeface="Urbanist SemiBold"/>
              </a:rPr>
              <a:t>SANCTION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8A0A12-D357-39BE-CC77-3E1B17EA7E7D}"/>
              </a:ext>
            </a:extLst>
          </p:cNvPr>
          <p:cNvSpPr txBox="1"/>
          <p:nvPr/>
        </p:nvSpPr>
        <p:spPr>
          <a:xfrm>
            <a:off x="4721125" y="3133725"/>
            <a:ext cx="27876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E2E8F0"/>
                </a:solidFill>
                <a:latin typeface="Urbanist"/>
              </a:rPr>
              <a:t>Created only after an application is approved (within limits rule).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AAE193-B29B-216B-7BA7-6711AD962DA0}"/>
              </a:ext>
            </a:extLst>
          </p:cNvPr>
          <p:cNvSpPr txBox="1"/>
          <p:nvPr/>
        </p:nvSpPr>
        <p:spPr>
          <a:xfrm>
            <a:off x="8499425" y="2667000"/>
            <a:ext cx="292692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C5D4"/>
                </a:solidFill>
                <a:latin typeface="Urbanist SemiBold"/>
              </a:rPr>
              <a:t>DISBURSEMENT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2A9F2A-35ED-D331-548B-7A64169D847D}"/>
              </a:ext>
            </a:extLst>
          </p:cNvPr>
          <p:cNvSpPr txBox="1"/>
          <p:nvPr/>
        </p:nvSpPr>
        <p:spPr>
          <a:xfrm>
            <a:off x="8499425" y="3133725"/>
            <a:ext cx="27875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E2E8F0"/>
                </a:solidFill>
                <a:latin typeface="Urbanist"/>
              </a:rPr>
              <a:t>The actual payout record triggering the bank transfer.</a:t>
            </a:r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3E696A07-4CDF-0007-2750-8202F0D4A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2047875"/>
            <a:ext cx="285750" cy="381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5CBF57-023E-6961-41C6-6B2620D2A06E}"/>
              </a:ext>
            </a:extLst>
          </p:cNvPr>
          <p:cNvSpPr txBox="1"/>
          <p:nvPr/>
        </p:nvSpPr>
        <p:spPr>
          <a:xfrm>
            <a:off x="942975" y="3848100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6C5D4"/>
                </a:solidFill>
                <a:latin typeface="Urbanist SemiBold"/>
              </a:rPr>
              <a:t>DocID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EE604E-A489-C6DB-68BA-42FE3231D262}"/>
              </a:ext>
            </a:extLst>
          </p:cNvPr>
          <p:cNvSpPr/>
          <p:nvPr/>
        </p:nvSpPr>
        <p:spPr>
          <a:xfrm>
            <a:off x="942975" y="415290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2CCA37-099F-76D2-8B5D-92A645F3AD8C}"/>
              </a:ext>
            </a:extLst>
          </p:cNvPr>
          <p:cNvSpPr txBox="1"/>
          <p:nvPr/>
        </p:nvSpPr>
        <p:spPr>
          <a:xfrm>
            <a:off x="942975" y="4257675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AppID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2AE9A1-F2C5-C5DE-ED14-EBCC1D9E08D9}"/>
              </a:ext>
            </a:extLst>
          </p:cNvPr>
          <p:cNvSpPr/>
          <p:nvPr/>
        </p:nvSpPr>
        <p:spPr>
          <a:xfrm>
            <a:off x="942975" y="456247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862A60-6792-6D67-ADDC-75DEBC606DE5}"/>
              </a:ext>
            </a:extLst>
          </p:cNvPr>
          <p:cNvSpPr txBox="1"/>
          <p:nvPr/>
        </p:nvSpPr>
        <p:spPr>
          <a:xfrm>
            <a:off x="942975" y="4667250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DocType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CEA82E-10AC-8A96-D496-ADB11C0CEB42}"/>
              </a:ext>
            </a:extLst>
          </p:cNvPr>
          <p:cNvSpPr/>
          <p:nvPr/>
        </p:nvSpPr>
        <p:spPr>
          <a:xfrm>
            <a:off x="942975" y="497205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454783-38B5-9F8B-B660-65F73F41F4BB}"/>
              </a:ext>
            </a:extLst>
          </p:cNvPr>
          <p:cNvSpPr txBox="1"/>
          <p:nvPr/>
        </p:nvSpPr>
        <p:spPr>
          <a:xfrm>
            <a:off x="942975" y="5076825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VerifyStatus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246154-F693-7716-E35B-AC84571A2E4F}"/>
              </a:ext>
            </a:extLst>
          </p:cNvPr>
          <p:cNvSpPr/>
          <p:nvPr/>
        </p:nvSpPr>
        <p:spPr>
          <a:xfrm>
            <a:off x="942975" y="538162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BA94F565-4D27-EB1C-51CF-EE6B63B9A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1125" y="2047875"/>
            <a:ext cx="381000" cy="381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88BC464-A5F2-230D-664E-EF23A76C8EDB}"/>
              </a:ext>
            </a:extLst>
          </p:cNvPr>
          <p:cNvSpPr txBox="1"/>
          <p:nvPr/>
        </p:nvSpPr>
        <p:spPr>
          <a:xfrm>
            <a:off x="4721125" y="4133850"/>
            <a:ext cx="27876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6C5D4"/>
                </a:solidFill>
                <a:latin typeface="Urbanist SemiBold"/>
              </a:rPr>
              <a:t>SanctionID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6D193E-8324-65E4-4E38-669BB386D4BE}"/>
              </a:ext>
            </a:extLst>
          </p:cNvPr>
          <p:cNvSpPr/>
          <p:nvPr/>
        </p:nvSpPr>
        <p:spPr>
          <a:xfrm>
            <a:off x="4721125" y="4438650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FC03F9-2D6D-8EDD-B4C8-04DA5C714CB5}"/>
              </a:ext>
            </a:extLst>
          </p:cNvPr>
          <p:cNvSpPr txBox="1"/>
          <p:nvPr/>
        </p:nvSpPr>
        <p:spPr>
          <a:xfrm>
            <a:off x="4721125" y="4543425"/>
            <a:ext cx="27876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AppID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DB366A0-735B-618D-3F74-A5573C6B078C}"/>
              </a:ext>
            </a:extLst>
          </p:cNvPr>
          <p:cNvSpPr/>
          <p:nvPr/>
        </p:nvSpPr>
        <p:spPr>
          <a:xfrm>
            <a:off x="4721125" y="4848225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271E8E-CC06-540E-E058-3C28696967D5}"/>
              </a:ext>
            </a:extLst>
          </p:cNvPr>
          <p:cNvSpPr txBox="1"/>
          <p:nvPr/>
        </p:nvSpPr>
        <p:spPr>
          <a:xfrm>
            <a:off x="4721125" y="4953000"/>
            <a:ext cx="27876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ApprovedAmt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BB49934-0C3D-A5A4-7C08-6B8CBBA59823}"/>
              </a:ext>
            </a:extLst>
          </p:cNvPr>
          <p:cNvSpPr/>
          <p:nvPr/>
        </p:nvSpPr>
        <p:spPr>
          <a:xfrm>
            <a:off x="4721125" y="5257800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0EAFAC-FF52-159B-FF89-38CAB1221812}"/>
              </a:ext>
            </a:extLst>
          </p:cNvPr>
          <p:cNvSpPr txBox="1"/>
          <p:nvPr/>
        </p:nvSpPr>
        <p:spPr>
          <a:xfrm>
            <a:off x="4721125" y="5362575"/>
            <a:ext cx="27876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ApproverName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BC74580-2384-29FD-01DD-E9F8721B9863}"/>
              </a:ext>
            </a:extLst>
          </p:cNvPr>
          <p:cNvSpPr/>
          <p:nvPr/>
        </p:nvSpPr>
        <p:spPr>
          <a:xfrm>
            <a:off x="4721125" y="5667375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03716AA2-982A-213A-263C-38F3D0B6E8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425" y="2047875"/>
            <a:ext cx="476250" cy="3810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9C892ED-A9D6-64E1-0B22-27BAE3C5BC49}"/>
              </a:ext>
            </a:extLst>
          </p:cNvPr>
          <p:cNvSpPr txBox="1"/>
          <p:nvPr/>
        </p:nvSpPr>
        <p:spPr>
          <a:xfrm>
            <a:off x="8499425" y="3848100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6C5D4"/>
                </a:solidFill>
                <a:latin typeface="Urbanist SemiBold"/>
              </a:rPr>
              <a:t>DisburseID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74BAF1-F663-7D7A-4F81-D272ECA34E8E}"/>
              </a:ext>
            </a:extLst>
          </p:cNvPr>
          <p:cNvSpPr/>
          <p:nvPr/>
        </p:nvSpPr>
        <p:spPr>
          <a:xfrm>
            <a:off x="8499425" y="415290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6B3A56-ABEE-27EF-D7EE-5558FABC6E3C}"/>
              </a:ext>
            </a:extLst>
          </p:cNvPr>
          <p:cNvSpPr txBox="1"/>
          <p:nvPr/>
        </p:nvSpPr>
        <p:spPr>
          <a:xfrm>
            <a:off x="8499425" y="4257675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SanctionID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73239FB-1682-CB6B-6D3C-32C60D5040BE}"/>
              </a:ext>
            </a:extLst>
          </p:cNvPr>
          <p:cNvSpPr/>
          <p:nvPr/>
        </p:nvSpPr>
        <p:spPr>
          <a:xfrm>
            <a:off x="8499425" y="456247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2A7979-175C-A58C-9F28-A419E284CEE1}"/>
              </a:ext>
            </a:extLst>
          </p:cNvPr>
          <p:cNvSpPr txBox="1"/>
          <p:nvPr/>
        </p:nvSpPr>
        <p:spPr>
          <a:xfrm>
            <a:off x="8499425" y="4667250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AmountPaid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B3A582-A0ED-1EE8-7CA0-39B388EDD7ED}"/>
              </a:ext>
            </a:extLst>
          </p:cNvPr>
          <p:cNvSpPr/>
          <p:nvPr/>
        </p:nvSpPr>
        <p:spPr>
          <a:xfrm>
            <a:off x="8499425" y="497205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53C986-BCCC-1F41-7D6A-B9E999A3E1EA}"/>
              </a:ext>
            </a:extLst>
          </p:cNvPr>
          <p:cNvSpPr txBox="1"/>
          <p:nvPr/>
        </p:nvSpPr>
        <p:spPr>
          <a:xfrm>
            <a:off x="8499425" y="5076825"/>
            <a:ext cx="278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Urbanist"/>
              </a:rPr>
              <a:t>TxnRef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417B36B-2F3C-06E5-ABC1-3C6F1837EEDA}"/>
              </a:ext>
            </a:extLst>
          </p:cNvPr>
          <p:cNvSpPr/>
          <p:nvPr/>
        </p:nvSpPr>
        <p:spPr>
          <a:xfrm>
            <a:off x="8499425" y="538162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744A291-6830-35F3-67AF-35BBC6D578E1}"/>
              </a:ext>
            </a:extLst>
          </p:cNvPr>
          <p:cNvSpPr/>
          <p:nvPr/>
        </p:nvSpPr>
        <p:spPr>
          <a:xfrm>
            <a:off x="942975" y="415290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508486F3-8A7A-5748-1852-58D3F27231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3525" y="3886200"/>
            <a:ext cx="304800" cy="200025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B3AE996B-2209-34D4-08B6-101A376985C4}"/>
              </a:ext>
            </a:extLst>
          </p:cNvPr>
          <p:cNvSpPr/>
          <p:nvPr/>
        </p:nvSpPr>
        <p:spPr>
          <a:xfrm>
            <a:off x="942975" y="456247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84" descr="image.png">
            <a:extLst>
              <a:ext uri="{FF2B5EF4-FFF2-40B4-BE49-F238E27FC236}">
                <a16:creationId xmlns:a16="http://schemas.microsoft.com/office/drawing/2014/main" id="{801BC55C-4767-3828-458F-498A276336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4295775"/>
            <a:ext cx="295275" cy="200025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346C814E-2DF5-50EF-049A-B232B2767576}"/>
              </a:ext>
            </a:extLst>
          </p:cNvPr>
          <p:cNvSpPr/>
          <p:nvPr/>
        </p:nvSpPr>
        <p:spPr>
          <a:xfrm>
            <a:off x="942975" y="497205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CCCB363-E81E-EA82-D674-9F51038F97B4}"/>
              </a:ext>
            </a:extLst>
          </p:cNvPr>
          <p:cNvSpPr/>
          <p:nvPr/>
        </p:nvSpPr>
        <p:spPr>
          <a:xfrm>
            <a:off x="942975" y="538162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0A4FC4B-2753-2BC2-E569-9F2213D44EEF}"/>
              </a:ext>
            </a:extLst>
          </p:cNvPr>
          <p:cNvSpPr/>
          <p:nvPr/>
        </p:nvSpPr>
        <p:spPr>
          <a:xfrm>
            <a:off x="4721125" y="4438650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image.png">
            <a:extLst>
              <a:ext uri="{FF2B5EF4-FFF2-40B4-BE49-F238E27FC236}">
                <a16:creationId xmlns:a16="http://schemas.microsoft.com/office/drawing/2014/main" id="{E08732B9-01E9-7AC9-8C85-1FEEBA84A8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2675" y="4171950"/>
            <a:ext cx="304800" cy="200025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1687F96F-B4E9-3FCC-E1A5-10CFF60A8DDB}"/>
              </a:ext>
            </a:extLst>
          </p:cNvPr>
          <p:cNvSpPr/>
          <p:nvPr/>
        </p:nvSpPr>
        <p:spPr>
          <a:xfrm>
            <a:off x="4721125" y="4848225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png">
            <a:extLst>
              <a:ext uri="{FF2B5EF4-FFF2-40B4-BE49-F238E27FC236}">
                <a16:creationId xmlns:a16="http://schemas.microsoft.com/office/drawing/2014/main" id="{C4F2E677-5A6F-9724-C2DE-949F2EC2B7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0725" y="4581525"/>
            <a:ext cx="295275" cy="200025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A2B24EE0-77DE-0FB0-4C55-25618F256EA6}"/>
              </a:ext>
            </a:extLst>
          </p:cNvPr>
          <p:cNvSpPr/>
          <p:nvPr/>
        </p:nvSpPr>
        <p:spPr>
          <a:xfrm>
            <a:off x="4721125" y="5257800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11475A4-4BF3-3A55-3DD3-597CB6F1D215}"/>
              </a:ext>
            </a:extLst>
          </p:cNvPr>
          <p:cNvSpPr/>
          <p:nvPr/>
        </p:nvSpPr>
        <p:spPr>
          <a:xfrm>
            <a:off x="4721125" y="5667375"/>
            <a:ext cx="2787699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892095D-CC94-BCF3-3D17-45CA9A57AFC8}"/>
              </a:ext>
            </a:extLst>
          </p:cNvPr>
          <p:cNvSpPr/>
          <p:nvPr/>
        </p:nvSpPr>
        <p:spPr>
          <a:xfrm>
            <a:off x="8499425" y="415290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image.png">
            <a:extLst>
              <a:ext uri="{FF2B5EF4-FFF2-40B4-BE49-F238E27FC236}">
                <a16:creationId xmlns:a16="http://schemas.microsoft.com/office/drawing/2014/main" id="{3473621A-5220-D36D-0E19-59E2C6CAFE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1450" y="3886200"/>
            <a:ext cx="304800" cy="200025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3B340826-E959-63E3-6428-F6399B2B6180}"/>
              </a:ext>
            </a:extLst>
          </p:cNvPr>
          <p:cNvSpPr/>
          <p:nvPr/>
        </p:nvSpPr>
        <p:spPr>
          <a:xfrm>
            <a:off x="8499425" y="456247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9" name="Picture 108" descr="image.png">
            <a:extLst>
              <a:ext uri="{FF2B5EF4-FFF2-40B4-BE49-F238E27FC236}">
                <a16:creationId xmlns:a16="http://schemas.microsoft.com/office/drawing/2014/main" id="{B6ACF369-DD85-4B9E-7301-A5204324E3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2400" y="4295775"/>
            <a:ext cx="295275" cy="200025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00EB4615-1033-B0EC-356B-D028C9B8F3D0}"/>
              </a:ext>
            </a:extLst>
          </p:cNvPr>
          <p:cNvSpPr/>
          <p:nvPr/>
        </p:nvSpPr>
        <p:spPr>
          <a:xfrm>
            <a:off x="8499425" y="4972050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16D46E0-C4D1-FEE4-7396-52D533DFBB03}"/>
              </a:ext>
            </a:extLst>
          </p:cNvPr>
          <p:cNvSpPr/>
          <p:nvPr/>
        </p:nvSpPr>
        <p:spPr>
          <a:xfrm>
            <a:off x="8499425" y="5381625"/>
            <a:ext cx="2787550" cy="9525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2731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19" grpId="0"/>
      <p:bldP spid="21" grpId="0"/>
      <p:bldP spid="23" grpId="0"/>
      <p:bldP spid="27" grpId="0"/>
      <p:bldP spid="29" grpId="0" animBg="1"/>
      <p:bldP spid="31" grpId="0"/>
      <p:bldP spid="33" grpId="0" animBg="1"/>
      <p:bldP spid="35" grpId="0"/>
      <p:bldP spid="37" grpId="0" animBg="1"/>
      <p:bldP spid="39" grpId="0"/>
      <p:bldP spid="41" grpId="0" animBg="1"/>
      <p:bldP spid="45" grpId="0"/>
      <p:bldP spid="47" grpId="0" animBg="1"/>
      <p:bldP spid="49" grpId="0"/>
      <p:bldP spid="51" grpId="0" animBg="1"/>
      <p:bldP spid="53" grpId="0"/>
      <p:bldP spid="55" grpId="0" animBg="1"/>
      <p:bldP spid="57" grpId="0"/>
      <p:bldP spid="59" grpId="0" animBg="1"/>
      <p:bldP spid="63" grpId="0"/>
      <p:bldP spid="65" grpId="0" animBg="1"/>
      <p:bldP spid="67" grpId="0"/>
      <p:bldP spid="69" grpId="0" animBg="1"/>
      <p:bldP spid="71" grpId="0"/>
      <p:bldP spid="73" grpId="0" animBg="1"/>
      <p:bldP spid="75" grpId="0"/>
      <p:bldP spid="77" grpId="0" animBg="1"/>
      <p:bldP spid="79" grpId="0" animBg="1"/>
      <p:bldP spid="83" grpId="0" animBg="1"/>
      <p:bldP spid="87" grpId="0" animBg="1"/>
      <p:bldP spid="89" grpId="0" animBg="1"/>
      <p:bldP spid="91" grpId="0" animBg="1"/>
      <p:bldP spid="95" grpId="0" animBg="1"/>
      <p:bldP spid="99" grpId="0" animBg="1"/>
      <p:bldP spid="101" grpId="0" animBg="1"/>
      <p:bldP spid="103" grpId="0" animBg="1"/>
      <p:bldP spid="107" grpId="0" animBg="1"/>
      <p:bldP spid="111" grpId="0" animBg="1"/>
      <p:bldP spid="1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81100"/>
            <a:ext cx="5362575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181100"/>
            <a:ext cx="5362575" cy="519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1495425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1NF &amp; 2NF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1895475"/>
            <a:ext cx="47339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Plus Jakarta Sans"/>
              </a:rPr>
              <a:t>1NF Compliance: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Eliminated multi-valued attributes by creating atomic fields and dedicated child tables for student documents and bank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2626816"/>
            <a:ext cx="47339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Plus Jakarta Sans"/>
              </a:rPr>
              <a:t>2NF Compliance: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Removed partial dependencies by ensuring all non-key attributes fully depend on complete composite primary keys (e.g., Application ID + Year).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1495425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3NF Transitive Dependency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1895475"/>
            <a:ext cx="47339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Plus Jakarta Sans"/>
              </a:rPr>
              <a:t>3NF Compliance: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Removed transitive dependencies where Scheme Max Limit was dependent on Scheme Type rather than Scheme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626816"/>
            <a:ext cx="47339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Separated Officer details into an independent Staff relation, preventing update anomalies and maintaining clean functional dependencies across all relations.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Schema Normalization (1NF to 3NF)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26158"/>
            <a:ext cx="11029950" cy="330085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2135683"/>
          <a:ext cx="11010898" cy="328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6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9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Constraint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8BDF8"/>
                          </a:solidFill>
                          <a:latin typeface="Space Grotesk"/>
                        </a:rPr>
                        <a:t>Target Table /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Business Purpose &amp; Enforcement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96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student_id, scheme_id, application_id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Guarantees unique entity identification across all database tables.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96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FOREIGN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app_id → student_id, scheme_id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Maintains referential integrity with CASCADE/RESTRICT delete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96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UNIQUE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(student_id, scheme_id, academic_year)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Strictly prevents a student from submitting duplicate claims per scheme/year.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96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CHECK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sanction_amount ≤ max_amount_limit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Enforces financial boundary checks at DB engine level prior to insert.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96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NOT NULL / DEFAULT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status DEFAULT 'PENDING', bank_ifsc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94A3B8"/>
                          </a:solidFill>
                          <a:latin typeface="Plus Jakarta Sans"/>
                        </a:rPr>
                        <a:t>Ensures essential fields are populated and default workflow state is set.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679501"/>
            <a:ext cx="2008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98687" y="2679501"/>
            <a:ext cx="32268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25579" y="2679501"/>
            <a:ext cx="57758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550" y="3226147"/>
            <a:ext cx="2008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98687" y="3226147"/>
            <a:ext cx="32268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25579" y="3226147"/>
            <a:ext cx="57758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3772792"/>
            <a:ext cx="2008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98687" y="3772792"/>
            <a:ext cx="32268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25579" y="3772792"/>
            <a:ext cx="57758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4319438"/>
            <a:ext cx="2008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98687" y="4319438"/>
            <a:ext cx="32268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25579" y="4319438"/>
            <a:ext cx="57758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866084"/>
            <a:ext cx="2008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98687" y="4866084"/>
            <a:ext cx="32268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25579" y="4866084"/>
            <a:ext cx="57758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Relational Schema Integrity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316956"/>
            <a:ext cx="10610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Single Active Application Rule: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Database constraints prevent students from holding multiple active sanctions under the same scheme category within an academic 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044428"/>
            <a:ext cx="10610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Mandatory Verification Gate: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A SQL trigger checks that all mandatory documents carry 'VERIFIED' status before allowing an application state update to 'APPROVED'.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771900"/>
            <a:ext cx="10610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Financial Sanction Validation: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Stored procedures verify that cumulative scheme disbursements do not exceed total allocated university scheme budget caps.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499371"/>
            <a:ext cx="10610850" cy="527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Bank Account Format Validation: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RegExp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CHECK constraints ensure valid account numbers and standard 11-digit IFSC codes prior to payment batch creation.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1243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58715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786187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513659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FFFFFF"/>
                </a:solidFill>
                <a:latin typeface="Space Grotesk"/>
              </a:rPr>
              <a:t>Business Logic &amp; Database Triggers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27299"/>
            <a:ext cx="1102995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75" y="5007322"/>
            <a:ext cx="109918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1" u="none" dirty="0">
                <a:solidFill>
                  <a:srgbClr val="94A3B8"/>
                </a:solidFill>
                <a:latin typeface="Plus Jakarta Sans"/>
              </a:rPr>
              <a:t>Analytical query leveraging SQL aggregate functions (SUM, COUNT, GROUP BY) to monitor allocated budget vs disbursed amounts per scheme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FFFFFF"/>
                </a:solidFill>
                <a:latin typeface="Space Grotesk"/>
              </a:rPr>
              <a:t>Scheme Allocation &amp; Disbursement 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781</Words>
  <Application>Microsoft Office PowerPoint</Application>
  <PresentationFormat>Widescreen</PresentationFormat>
  <Paragraphs>83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Plus Jakarta Sans</vt:lpstr>
      <vt:lpstr>Plus Jakarta Sans SemiBold</vt:lpstr>
      <vt:lpstr>Space Grotesk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manoj</dc:creator>
  <cp:keywords/>
  <dc:description>generated using python-pptx</dc:description>
  <cp:lastModifiedBy>sai manoj</cp:lastModifiedBy>
  <cp:revision>4</cp:revision>
  <dcterms:created xsi:type="dcterms:W3CDTF">2013-01-27T09:14:16Z</dcterms:created>
  <dcterms:modified xsi:type="dcterms:W3CDTF">2026-09-03T16:25:17Z</dcterms:modified>
  <cp:category/>
</cp:coreProperties>
</file>