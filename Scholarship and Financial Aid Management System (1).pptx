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Inter" panose="020B0604020202020204" charset="0"/>
      <p:bold r:id="rId13"/>
      <p:boldItalic r:id="rId14"/>
    </p:embeddedFont>
    <p:embeddedFont>
      <p:font typeface="Inter Medium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JetBrains Mono" panose="020B0604020202020204" charset="0"/>
      <p:regular r:id="rId23"/>
      <p:bold r:id="rId24"/>
      <p:italic r:id="rId25"/>
      <p:boldItalic r:id="rId26"/>
    </p:embeddedFont>
    <p:embeddedFont>
      <p:font typeface="JetBrains Mono Medium" panose="020B0604020202020204" charset="0"/>
      <p:regular r:id="rId27"/>
      <p:bold r:id="rId28"/>
      <p:italic r:id="rId29"/>
      <p:boldItalic r:id="rId30"/>
    </p:embeddedFont>
    <p:embeddedFont>
      <p:font typeface="JetBrains Mono SemiBold" panose="020B0604020202020204" charset="0"/>
      <p:regular r:id="rId31"/>
      <p:bold r:id="rId32"/>
      <p:italic r:id="rId33"/>
      <p:boldItalic r:id="rId34"/>
    </p:embeddedFont>
    <p:embeddedFont>
      <p:font typeface="Nunito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presProps" Target="presProps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a08f32925_8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0a08f32925_8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a08f32925_8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0a08f32925_8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40B2597A-2224-A460-1314-2AA3106B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a08f32925_88_0:notes">
            <a:extLst>
              <a:ext uri="{FF2B5EF4-FFF2-40B4-BE49-F238E27FC236}">
                <a16:creationId xmlns:a16="http://schemas.microsoft.com/office/drawing/2014/main" id="{4168649E-5F47-57CB-70E4-8FEF7E81E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0a08f32925_88_0:notes">
            <a:extLst>
              <a:ext uri="{FF2B5EF4-FFF2-40B4-BE49-F238E27FC236}">
                <a16:creationId xmlns:a16="http://schemas.microsoft.com/office/drawing/2014/main" id="{C82BCC19-202F-015A-964D-1D166B517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7725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0a08f32925_8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0a08f32925_8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a08f32925_8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0a08f32925_8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0a08f32925_8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40a08f32925_8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0a08f32925_8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0a08f32925_8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a08f32925_8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0a08f32925_8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0a08f32925_8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40a08f32925_8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40a08f32925_8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40a08f32925_8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40a08f32925_14_0)">
  <p:cSld name="Generated (g40a08f32925_14_0)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0" name="Google Shape;130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4"/>
          <p:cNvSpPr/>
          <p:nvPr/>
        </p:nvSpPr>
        <p:spPr>
          <a:xfrm>
            <a:off x="381000" y="1524000"/>
            <a:ext cx="5715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990600" y="1524000"/>
            <a:ext cx="1143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381000" y="1752600"/>
            <a:ext cx="8382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Scholarship and Financial Aid Management System</a:t>
            </a:r>
            <a:endParaRPr sz="3200" b="1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200" b="1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381000" y="3390900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64FFDA"/>
                </a:solidFill>
                <a:latin typeface="Inter Medium"/>
                <a:ea typeface="Inter Medium"/>
                <a:cs typeface="Inter Medium"/>
                <a:sym typeface="Inter Medium"/>
              </a:rPr>
              <a:t>REVIEW 2</a:t>
            </a:r>
            <a:endParaRPr sz="1000" b="0">
              <a:solidFill>
                <a:srgbClr val="64FFD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PROJECT ID: PROJECT 27  |  PLATFORM: MYSQL WORKBENCH</a:t>
            </a:r>
            <a:endParaRPr sz="1000" b="0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Presented by: M Sai Manoj - 25WU0102139</a:t>
            </a:r>
            <a:endParaRPr sz="1000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6" name="Google Shape;136;p14" descr="File:Woxse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2" name="Google Shape;142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5"/>
          <p:cNvGrpSpPr/>
          <p:nvPr/>
        </p:nvGrpSpPr>
        <p:grpSpPr>
          <a:xfrm>
            <a:off x="381000" y="304800"/>
            <a:ext cx="723900" cy="38100"/>
            <a:chOff x="0" y="0"/>
            <a:chExt cx="723900" cy="38100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5715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609600" y="0"/>
              <a:ext cx="114300" cy="38100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5"/>
          <p:cNvSpPr txBox="1"/>
          <p:nvPr/>
        </p:nvSpPr>
        <p:spPr>
          <a:xfrm>
            <a:off x="381000" y="419100"/>
            <a:ext cx="8382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Architecture &amp; ER Diagram</a:t>
            </a:r>
            <a:endParaRPr sz="2400" b="0">
              <a:solidFill>
                <a:srgbClr val="E6F1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48" name="Google Shape;148;p15"/>
          <p:cNvGrpSpPr/>
          <p:nvPr/>
        </p:nvGrpSpPr>
        <p:grpSpPr>
          <a:xfrm>
            <a:off x="242888" y="852488"/>
            <a:ext cx="8658150" cy="4086300"/>
            <a:chOff x="-138112" y="-100012"/>
            <a:chExt cx="8658150" cy="4086300"/>
          </a:xfrm>
        </p:grpSpPr>
        <p:grpSp>
          <p:nvGrpSpPr>
            <p:cNvPr id="149" name="Google Shape;149;p15"/>
            <p:cNvGrpSpPr/>
            <p:nvPr/>
          </p:nvGrpSpPr>
          <p:grpSpPr>
            <a:xfrm>
              <a:off x="-138112" y="-100012"/>
              <a:ext cx="4371900" cy="4086300"/>
              <a:chOff x="-138112" y="-100012"/>
              <a:chExt cx="4371900" cy="4086300"/>
            </a:xfrm>
          </p:grpSpPr>
          <p:pic>
            <p:nvPicPr>
              <p:cNvPr id="150" name="Google Shape;150;p1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38112" y="-100012"/>
                <a:ext cx="4371900" cy="4086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" name="Google Shape;151;p15"/>
              <p:cNvSpPr/>
              <p:nvPr/>
            </p:nvSpPr>
            <p:spPr>
              <a:xfrm>
                <a:off x="0" y="0"/>
                <a:ext cx="40959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 txBox="1"/>
              <p:nvPr/>
            </p:nvSpPr>
            <p:spPr>
              <a:xfrm>
                <a:off x="228600" y="228600"/>
                <a:ext cx="3638700" cy="335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Core Relational Schema</a:t>
                </a:r>
                <a:endParaRPr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GB" sz="12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Our database architecture relies on a robust Entity-Relationship model connecting six core entities:</a:t>
                </a:r>
                <a:endParaRPr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• </a:t>
                </a:r>
                <a:r>
                  <a:rPr lang="en-GB" sz="1000" b="1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Students</a:t>
                </a: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 &amp; </a:t>
                </a:r>
                <a:r>
                  <a:rPr lang="en-GB" sz="1000" b="1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Schemes</a:t>
                </a:r>
                <a:endParaRPr sz="1000" b="0">
                  <a:solidFill>
                    <a:srgbClr val="112240"/>
                  </a:solidFill>
                  <a:highlight>
                    <a:srgbClr val="F0F4F8"/>
                  </a:highlight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• </a:t>
                </a:r>
                <a:r>
                  <a:rPr lang="en-GB" sz="1000" b="1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Applications</a:t>
                </a: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 &amp; </a:t>
                </a:r>
                <a:r>
                  <a:rPr lang="en-GB" sz="1000" b="1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Bank Details</a:t>
                </a:r>
                <a:endParaRPr sz="1000" b="0">
                  <a:solidFill>
                    <a:srgbClr val="112240"/>
                  </a:solidFill>
                  <a:highlight>
                    <a:srgbClr val="F0F4F8"/>
                  </a:highlight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• </a:t>
                </a:r>
                <a:r>
                  <a:rPr lang="en-GB" sz="1000" b="1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Sanctions</a:t>
                </a: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 &amp; </a:t>
                </a:r>
                <a:r>
                  <a:rPr lang="en-GB" sz="1000" b="1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Disbursements</a:t>
                </a:r>
                <a:endParaRPr sz="1000" b="0">
                  <a:solidFill>
                    <a:srgbClr val="112240"/>
                  </a:solidFill>
                  <a:highlight>
                    <a:srgbClr val="F0F4F8"/>
                  </a:highlight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GB" sz="12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This structured layout guarantees that every financial transaction traces back to a verified student and an active scholarship scheme, forming the backbone of our relational schema.</a:t>
                </a:r>
                <a:endParaRPr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3" name="Google Shape;153;p15"/>
            <p:cNvGrpSpPr/>
            <p:nvPr/>
          </p:nvGrpSpPr>
          <p:grpSpPr>
            <a:xfrm>
              <a:off x="4148138" y="-100012"/>
              <a:ext cx="4371900" cy="4086300"/>
              <a:chOff x="-138112" y="-100012"/>
              <a:chExt cx="4371900" cy="4086300"/>
            </a:xfrm>
          </p:grpSpPr>
          <p:pic>
            <p:nvPicPr>
              <p:cNvPr id="154" name="Google Shape;154;p1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38112" y="-100012"/>
                <a:ext cx="4371900" cy="4086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5"/>
              <p:cNvSpPr/>
              <p:nvPr/>
            </p:nvSpPr>
            <p:spPr>
              <a:xfrm>
                <a:off x="0" y="0"/>
                <a:ext cx="40959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64FFD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5"/>
              <p:cNvSpPr txBox="1"/>
              <p:nvPr/>
            </p:nvSpPr>
            <p:spPr>
              <a:xfrm>
                <a:off x="228600" y="228600"/>
                <a:ext cx="3638700" cy="335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Entity Cardinalities</a:t>
                </a:r>
                <a:endParaRPr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GB" sz="12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The ER diagram illustrates key cardinalities designed to enforce data integrity and secure routing:</a:t>
                </a:r>
                <a:endParaRPr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GB" sz="12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One-to-Many Relationship</a:t>
                </a:r>
                <a:endParaRPr sz="12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Maintained between </a:t>
                </a:r>
                <a:r>
                  <a:rPr lang="en-GB" sz="1100" b="1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Students</a:t>
                </a: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 and </a:t>
                </a:r>
                <a:r>
                  <a:rPr lang="en-GB" sz="1100" b="1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Applications</a:t>
                </a: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 to support multiple scholarship submission attempts over time.</a:t>
                </a:r>
                <a:endParaRPr sz="11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GB" sz="12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One-to-One Mapping</a:t>
                </a:r>
                <a:endParaRPr sz="12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Configured for </a:t>
                </a:r>
                <a:r>
                  <a:rPr lang="en-GB" sz="1100" b="1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Bank Details</a:t>
                </a: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 to ensure precise, tamper-proof, and secure financial routing.</a:t>
                </a:r>
                <a:endParaRPr sz="11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Together, these mappings ensure seamless verification from application submission to final disbursement.</a:t>
                </a:r>
                <a:endParaRPr sz="11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57" name="Google Shape;157;p15" descr="File:Woxsen.png - Wikimedia Common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1E8E166C-8DF9-FF01-647D-B8AF1473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>
            <a:extLst>
              <a:ext uri="{FF2B5EF4-FFF2-40B4-BE49-F238E27FC236}">
                <a16:creationId xmlns:a16="http://schemas.microsoft.com/office/drawing/2014/main" id="{C46C230C-1323-CEEF-7319-19FB0AB466C7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2" name="Google Shape;142;p15">
              <a:extLst>
                <a:ext uri="{FF2B5EF4-FFF2-40B4-BE49-F238E27FC236}">
                  <a16:creationId xmlns:a16="http://schemas.microsoft.com/office/drawing/2014/main" id="{82D8EB33-2AFB-8DBC-5CEE-B8D6A784052D}"/>
                </a:ext>
              </a:extLst>
            </p:cNvPr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3" name="Google Shape;143;p15">
              <a:extLst>
                <a:ext uri="{FF2B5EF4-FFF2-40B4-BE49-F238E27FC236}">
                  <a16:creationId xmlns:a16="http://schemas.microsoft.com/office/drawing/2014/main" id="{A182C957-D9CF-26C2-70CB-B5790AF7439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7E80627-BD43-4290-C849-E2437BD82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"/>
            <a:ext cx="9144000" cy="5143502"/>
          </a:xfrm>
          <a:prstGeom prst="rect">
            <a:avLst/>
          </a:prstGeom>
        </p:spPr>
      </p:pic>
      <p:grpSp>
        <p:nvGrpSpPr>
          <p:cNvPr id="144" name="Google Shape;144;p15">
            <a:extLst>
              <a:ext uri="{FF2B5EF4-FFF2-40B4-BE49-F238E27FC236}">
                <a16:creationId xmlns:a16="http://schemas.microsoft.com/office/drawing/2014/main" id="{BF856E52-48F9-FC1B-6793-2BACDC6DA6C9}"/>
              </a:ext>
            </a:extLst>
          </p:cNvPr>
          <p:cNvGrpSpPr/>
          <p:nvPr/>
        </p:nvGrpSpPr>
        <p:grpSpPr>
          <a:xfrm>
            <a:off x="381000" y="304800"/>
            <a:ext cx="723900" cy="38100"/>
            <a:chOff x="0" y="0"/>
            <a:chExt cx="723900" cy="38100"/>
          </a:xfrm>
        </p:grpSpPr>
        <p:sp>
          <p:nvSpPr>
            <p:cNvPr id="145" name="Google Shape;145;p15">
              <a:extLst>
                <a:ext uri="{FF2B5EF4-FFF2-40B4-BE49-F238E27FC236}">
                  <a16:creationId xmlns:a16="http://schemas.microsoft.com/office/drawing/2014/main" id="{74D399D5-18E0-DCFC-D69A-5120204F9B20}"/>
                </a:ext>
              </a:extLst>
            </p:cNvPr>
            <p:cNvSpPr/>
            <p:nvPr/>
          </p:nvSpPr>
          <p:spPr>
            <a:xfrm>
              <a:off x="0" y="0"/>
              <a:ext cx="5715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>
              <a:extLst>
                <a:ext uri="{FF2B5EF4-FFF2-40B4-BE49-F238E27FC236}">
                  <a16:creationId xmlns:a16="http://schemas.microsoft.com/office/drawing/2014/main" id="{F09886AD-372B-6692-F77A-E513A0B91033}"/>
                </a:ext>
              </a:extLst>
            </p:cNvPr>
            <p:cNvSpPr/>
            <p:nvPr/>
          </p:nvSpPr>
          <p:spPr>
            <a:xfrm>
              <a:off x="609600" y="0"/>
              <a:ext cx="114300" cy="38100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5">
            <a:extLst>
              <a:ext uri="{FF2B5EF4-FFF2-40B4-BE49-F238E27FC236}">
                <a16:creationId xmlns:a16="http://schemas.microsoft.com/office/drawing/2014/main" id="{14B4C03A-EF5A-4539-2462-EB523D77998E}"/>
              </a:ext>
            </a:extLst>
          </p:cNvPr>
          <p:cNvSpPr txBox="1"/>
          <p:nvPr/>
        </p:nvSpPr>
        <p:spPr>
          <a:xfrm>
            <a:off x="381000" y="419100"/>
            <a:ext cx="8382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2400" b="0" dirty="0">
                <a:solidFill>
                  <a:schemeClr val="accent6">
                    <a:lumMod val="75000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 Diagram</a:t>
            </a:r>
            <a:endParaRPr sz="2400" b="0" dirty="0">
              <a:solidFill>
                <a:schemeClr val="accent6">
                  <a:lumMod val="7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8419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4" name="Google Shape;164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6"/>
          <p:cNvGrpSpPr/>
          <p:nvPr/>
        </p:nvGrpSpPr>
        <p:grpSpPr>
          <a:xfrm>
            <a:off x="381000" y="304800"/>
            <a:ext cx="723900" cy="38100"/>
            <a:chOff x="0" y="0"/>
            <a:chExt cx="723900" cy="381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5715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609600" y="0"/>
              <a:ext cx="114300" cy="38100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6"/>
          <p:cNvSpPr txBox="1"/>
          <p:nvPr/>
        </p:nvSpPr>
        <p:spPr>
          <a:xfrm>
            <a:off x="381000" y="4191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 Normalization &amp; Data Dictionary</a:t>
            </a:r>
            <a:endParaRPr sz="2400" b="0">
              <a:solidFill>
                <a:srgbClr val="E6F1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69" name="Google Shape;169;p16"/>
          <p:cNvGrpSpPr/>
          <p:nvPr/>
        </p:nvGrpSpPr>
        <p:grpSpPr>
          <a:xfrm>
            <a:off x="242888" y="852488"/>
            <a:ext cx="4371900" cy="4086300"/>
            <a:chOff x="-138112" y="-100012"/>
            <a:chExt cx="4371900" cy="4086300"/>
          </a:xfrm>
        </p:grpSpPr>
        <p:pic>
          <p:nvPicPr>
            <p:cNvPr id="170" name="Google Shape;170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112" y="-100012"/>
              <a:ext cx="4371900" cy="40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6"/>
            <p:cNvSpPr txBox="1"/>
            <p:nvPr/>
          </p:nvSpPr>
          <p:spPr>
            <a:xfrm>
              <a:off x="228600" y="228600"/>
              <a:ext cx="3638700" cy="3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Schema Normalization (3NF)</a:t>
              </a:r>
              <a:endParaRPr sz="16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To eliminate data redundancy and insertion anomalies, the database schema is normalized up to the Third Normal Form (3NF).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We resolved partial dependencies by ensuring all attributes depend entirely on primary keys, and removed transitive dependencies across financial records.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6"/>
          <p:cNvGrpSpPr/>
          <p:nvPr/>
        </p:nvGrpSpPr>
        <p:grpSpPr>
          <a:xfrm>
            <a:off x="4529138" y="852488"/>
            <a:ext cx="4371900" cy="4086300"/>
            <a:chOff x="-138112" y="-100012"/>
            <a:chExt cx="4371900" cy="4086300"/>
          </a:xfrm>
        </p:grpSpPr>
        <p:pic>
          <p:nvPicPr>
            <p:cNvPr id="173" name="Google Shape;173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112" y="-100012"/>
              <a:ext cx="4371900" cy="40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6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-GB" sz="14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Dictionary</a:t>
              </a:r>
              <a:endParaRPr sz="14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0" y="533400"/>
              <a:ext cx="4095900" cy="3429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6" name="Google Shape;176;p16"/>
            <p:cNvCxnSpPr/>
            <p:nvPr/>
          </p:nvCxnSpPr>
          <p:spPr>
            <a:xfrm>
              <a:off x="0" y="876300"/>
              <a:ext cx="4095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7" name="Google Shape;177;p16"/>
            <p:cNvSpPr txBox="1"/>
            <p:nvPr/>
          </p:nvSpPr>
          <p:spPr>
            <a:xfrm>
              <a:off x="152400" y="6191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Attribute</a:t>
              </a:r>
              <a:endParaRPr sz="85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1143000" y="61912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Type</a:t>
              </a:r>
              <a:endParaRPr sz="85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9" name="Google Shape;179;p16"/>
            <p:cNvSpPr txBox="1"/>
            <p:nvPr/>
          </p:nvSpPr>
          <p:spPr>
            <a:xfrm>
              <a:off x="1952625" y="6191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</a:t>
              </a:r>
              <a:endParaRPr sz="85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2381250" y="619125"/>
              <a:ext cx="1600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Allowable Values / Notes</a:t>
              </a:r>
              <a:endParaRPr sz="85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81" name="Google Shape;181;p16"/>
            <p:cNvCxnSpPr/>
            <p:nvPr/>
          </p:nvCxnSpPr>
          <p:spPr>
            <a:xfrm>
              <a:off x="0" y="1409700"/>
              <a:ext cx="4095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2" name="Google Shape;182;p16"/>
            <p:cNvSpPr txBox="1"/>
            <p:nvPr/>
          </p:nvSpPr>
          <p:spPr>
            <a:xfrm>
              <a:off x="152400" y="971550"/>
              <a:ext cx="952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app_id</a:t>
              </a:r>
              <a:endParaRPr sz="90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1143000" y="971550"/>
              <a:ext cx="762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BIGINT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1952625" y="971550"/>
              <a:ext cx="381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PK</a:t>
              </a:r>
              <a:endParaRPr sz="850" b="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2381250" y="971550"/>
              <a:ext cx="16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Unique application identifier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86" name="Google Shape;186;p16"/>
            <p:cNvCxnSpPr/>
            <p:nvPr/>
          </p:nvCxnSpPr>
          <p:spPr>
            <a:xfrm>
              <a:off x="0" y="2019300"/>
              <a:ext cx="4095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7" name="Google Shape;187;p16"/>
            <p:cNvSpPr txBox="1"/>
            <p:nvPr/>
          </p:nvSpPr>
          <p:spPr>
            <a:xfrm>
              <a:off x="152400" y="1504950"/>
              <a:ext cx="952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app_status</a:t>
              </a:r>
              <a:endParaRPr sz="90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88" name="Google Shape;188;p16"/>
            <p:cNvSpPr txBox="1"/>
            <p:nvPr/>
          </p:nvSpPr>
          <p:spPr>
            <a:xfrm>
              <a:off x="1143000" y="1504950"/>
              <a:ext cx="762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VARCHAR(20)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9" name="Google Shape;189;p16"/>
            <p:cNvSpPr txBox="1"/>
            <p:nvPr/>
          </p:nvSpPr>
          <p:spPr>
            <a:xfrm>
              <a:off x="1952625" y="1504950"/>
              <a:ext cx="381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-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2381250" y="1504950"/>
              <a:ext cx="16002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'Pending', 'Approved', 'Rejected', 'Disbursed'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91" name="Google Shape;191;p16"/>
            <p:cNvCxnSpPr/>
            <p:nvPr/>
          </p:nvCxnSpPr>
          <p:spPr>
            <a:xfrm>
              <a:off x="0" y="2628900"/>
              <a:ext cx="4095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2" name="Google Shape;192;p16"/>
            <p:cNvSpPr txBox="1"/>
            <p:nvPr/>
          </p:nvSpPr>
          <p:spPr>
            <a:xfrm>
              <a:off x="152400" y="2114550"/>
              <a:ext cx="952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disb_amount</a:t>
              </a:r>
              <a:endParaRPr sz="90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93" name="Google Shape;193;p16"/>
            <p:cNvSpPr txBox="1"/>
            <p:nvPr/>
          </p:nvSpPr>
          <p:spPr>
            <a:xfrm>
              <a:off x="1143000" y="2114550"/>
              <a:ext cx="762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86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DECIMAL(12,2)</a:t>
              </a:r>
              <a:endParaRPr sz="786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1952625" y="2114550"/>
              <a:ext cx="381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-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16"/>
            <p:cNvSpPr txBox="1"/>
            <p:nvPr/>
          </p:nvSpPr>
          <p:spPr>
            <a:xfrm>
              <a:off x="2381250" y="2114550"/>
              <a:ext cx="16002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Numeric value &gt;= 0.00 (Financial record)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6" name="Google Shape;196;p16"/>
            <p:cNvSpPr txBox="1"/>
            <p:nvPr/>
          </p:nvSpPr>
          <p:spPr>
            <a:xfrm>
              <a:off x="152400" y="2724150"/>
              <a:ext cx="952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schema_meta</a:t>
              </a:r>
              <a:endParaRPr sz="90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1143000" y="2724150"/>
              <a:ext cx="762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TEXT / SUMMARY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8" name="Google Shape;198;p16"/>
            <p:cNvSpPr txBox="1"/>
            <p:nvPr/>
          </p:nvSpPr>
          <p:spPr>
            <a:xfrm>
              <a:off x="1952625" y="2724150"/>
              <a:ext cx="38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-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9" name="Google Shape;199;p16"/>
            <p:cNvSpPr txBox="1"/>
            <p:nvPr/>
          </p:nvSpPr>
          <p:spPr>
            <a:xfrm>
              <a:off x="2381250" y="2724150"/>
              <a:ext cx="1600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Comprehensive summary of tables, primary keys, &amp; data types ensuring structural consistency.</a:t>
              </a:r>
              <a:endParaRPr sz="85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00" name="Google Shape;200;p16" descr="File:Woxsen.png - Wikimedia Common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06" name="Google Shape;206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7" name="Google Shape;207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17"/>
          <p:cNvGrpSpPr/>
          <p:nvPr/>
        </p:nvGrpSpPr>
        <p:grpSpPr>
          <a:xfrm>
            <a:off x="381000" y="304800"/>
            <a:ext cx="723900" cy="38100"/>
            <a:chOff x="0" y="0"/>
            <a:chExt cx="723900" cy="38100"/>
          </a:xfrm>
        </p:grpSpPr>
        <p:sp>
          <p:nvSpPr>
            <p:cNvPr id="209" name="Google Shape;209;p17"/>
            <p:cNvSpPr/>
            <p:nvPr/>
          </p:nvSpPr>
          <p:spPr>
            <a:xfrm>
              <a:off x="0" y="0"/>
              <a:ext cx="5715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609600" y="0"/>
              <a:ext cx="114300" cy="38100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7"/>
          <p:cNvSpPr txBox="1"/>
          <p:nvPr/>
        </p:nvSpPr>
        <p:spPr>
          <a:xfrm>
            <a:off x="381000" y="4191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DDL Scripts &amp; Business Integrity Constraints</a:t>
            </a:r>
            <a:endParaRPr sz="2400" b="0">
              <a:solidFill>
                <a:srgbClr val="E6F1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12" name="Google Shape;212;p17"/>
          <p:cNvGrpSpPr/>
          <p:nvPr/>
        </p:nvGrpSpPr>
        <p:grpSpPr>
          <a:xfrm>
            <a:off x="242888" y="852488"/>
            <a:ext cx="8658300" cy="4086300"/>
            <a:chOff x="-138112" y="-100012"/>
            <a:chExt cx="8658300" cy="4086300"/>
          </a:xfrm>
        </p:grpSpPr>
        <p:pic>
          <p:nvPicPr>
            <p:cNvPr id="213" name="Google Shape;21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112" y="-100012"/>
              <a:ext cx="8658300" cy="40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17"/>
            <p:cNvSpPr/>
            <p:nvPr/>
          </p:nvSpPr>
          <p:spPr>
            <a:xfrm>
              <a:off x="323850" y="3238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cubicBezTo>
                    <a:pt x="26880" y="0"/>
                    <a:pt x="0" y="10740"/>
                    <a:pt x="0" y="24000"/>
                  </a:cubicBezTo>
                  <a:lnTo>
                    <a:pt x="0" y="96000"/>
                  </a:lnTo>
                  <a:cubicBezTo>
                    <a:pt x="0" y="109260"/>
                    <a:pt x="26880" y="120000"/>
                    <a:pt x="60000" y="120000"/>
                  </a:cubicBezTo>
                  <a:cubicBezTo>
                    <a:pt x="93120" y="120000"/>
                    <a:pt x="120000" y="109260"/>
                    <a:pt x="120000" y="96000"/>
                  </a:cubicBezTo>
                  <a:lnTo>
                    <a:pt x="120000" y="24000"/>
                  </a:lnTo>
                  <a:cubicBezTo>
                    <a:pt x="120000" y="10740"/>
                    <a:pt x="93120" y="0"/>
                    <a:pt x="60000" y="0"/>
                  </a:cubicBezTo>
                  <a:close/>
                  <a:moveTo>
                    <a:pt x="60000" y="27000"/>
                  </a:moveTo>
                  <a:cubicBezTo>
                    <a:pt x="88800" y="27000"/>
                    <a:pt x="108000" y="18960"/>
                    <a:pt x="108000" y="15000"/>
                  </a:cubicBezTo>
                  <a:cubicBezTo>
                    <a:pt x="108000" y="11040"/>
                    <a:pt x="88800" y="3000"/>
                    <a:pt x="60000" y="3000"/>
                  </a:cubicBezTo>
                  <a:cubicBezTo>
                    <a:pt x="31200" y="3000"/>
                    <a:pt x="12000" y="11040"/>
                    <a:pt x="12000" y="15000"/>
                  </a:cubicBezTo>
                  <a:cubicBezTo>
                    <a:pt x="12000" y="18960"/>
                    <a:pt x="31200" y="27000"/>
                    <a:pt x="60000" y="27000"/>
                  </a:cubicBezTo>
                  <a:close/>
                  <a:moveTo>
                    <a:pt x="108000" y="99000"/>
                  </a:moveTo>
                  <a:cubicBezTo>
                    <a:pt x="108000" y="102960"/>
                    <a:pt x="88800" y="111000"/>
                    <a:pt x="60000" y="111000"/>
                  </a:cubicBezTo>
                  <a:cubicBezTo>
                    <a:pt x="31200" y="111000"/>
                    <a:pt x="12000" y="102960"/>
                    <a:pt x="12000" y="99000"/>
                  </a:cubicBezTo>
                  <a:lnTo>
                    <a:pt x="12000" y="77160"/>
                  </a:lnTo>
                  <a:cubicBezTo>
                    <a:pt x="22980" y="83160"/>
                    <a:pt x="40200" y="87000"/>
                    <a:pt x="60000" y="87000"/>
                  </a:cubicBezTo>
                  <a:cubicBezTo>
                    <a:pt x="79800" y="87000"/>
                    <a:pt x="97020" y="83160"/>
                    <a:pt x="108000" y="77160"/>
                  </a:cubicBezTo>
                  <a:lnTo>
                    <a:pt x="108000" y="99000"/>
                  </a:lnTo>
                  <a:close/>
                  <a:moveTo>
                    <a:pt x="108000" y="69000"/>
                  </a:moveTo>
                  <a:cubicBezTo>
                    <a:pt x="108000" y="72960"/>
                    <a:pt x="88800" y="81000"/>
                    <a:pt x="60000" y="81000"/>
                  </a:cubicBezTo>
                  <a:cubicBezTo>
                    <a:pt x="31200" y="81000"/>
                    <a:pt x="12000" y="72960"/>
                    <a:pt x="12000" y="69000"/>
                  </a:cubicBezTo>
                  <a:lnTo>
                    <a:pt x="12000" y="47160"/>
                  </a:lnTo>
                  <a:cubicBezTo>
                    <a:pt x="22980" y="53160"/>
                    <a:pt x="40200" y="57000"/>
                    <a:pt x="60000" y="57000"/>
                  </a:cubicBezTo>
                  <a:cubicBezTo>
                    <a:pt x="79800" y="57000"/>
                    <a:pt x="97020" y="53160"/>
                    <a:pt x="108000" y="47160"/>
                  </a:cubicBezTo>
                  <a:lnTo>
                    <a:pt x="108000" y="69000"/>
                  </a:lnTo>
                  <a:close/>
                </a:path>
              </a:pathLst>
            </a:cu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685800" y="266700"/>
              <a:ext cx="73914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UNIQUE Constraints</a:t>
              </a:r>
              <a:endParaRPr sz="16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Implemented to guarantee a student can submit only one application per scheme per academic year, ensuring strict single-submission enforcement at the schema level.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16" name="Google Shape;216;p17"/>
            <p:cNvCxnSpPr/>
            <p:nvPr/>
          </p:nvCxnSpPr>
          <p:spPr>
            <a:xfrm>
              <a:off x="304800" y="1181100"/>
              <a:ext cx="7772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7" name="Google Shape;217;p17"/>
            <p:cNvSpPr/>
            <p:nvPr/>
          </p:nvSpPr>
          <p:spPr>
            <a:xfrm>
              <a:off x="323850" y="1428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cubicBezTo>
                    <a:pt x="26880" y="0"/>
                    <a:pt x="0" y="10740"/>
                    <a:pt x="0" y="24000"/>
                  </a:cubicBezTo>
                  <a:lnTo>
                    <a:pt x="0" y="96000"/>
                  </a:lnTo>
                  <a:cubicBezTo>
                    <a:pt x="0" y="109260"/>
                    <a:pt x="26880" y="120000"/>
                    <a:pt x="60000" y="120000"/>
                  </a:cubicBezTo>
                  <a:cubicBezTo>
                    <a:pt x="93120" y="120000"/>
                    <a:pt x="120000" y="109260"/>
                    <a:pt x="120000" y="96000"/>
                  </a:cubicBezTo>
                  <a:lnTo>
                    <a:pt x="120000" y="24000"/>
                  </a:lnTo>
                  <a:cubicBezTo>
                    <a:pt x="120000" y="10740"/>
                    <a:pt x="93120" y="0"/>
                    <a:pt x="60000" y="0"/>
                  </a:cubicBezTo>
                  <a:close/>
                  <a:moveTo>
                    <a:pt x="60000" y="27000"/>
                  </a:moveTo>
                  <a:cubicBezTo>
                    <a:pt x="88800" y="27000"/>
                    <a:pt x="108000" y="18960"/>
                    <a:pt x="108000" y="15000"/>
                  </a:cubicBezTo>
                  <a:cubicBezTo>
                    <a:pt x="108000" y="11040"/>
                    <a:pt x="88800" y="3000"/>
                    <a:pt x="60000" y="3000"/>
                  </a:cubicBezTo>
                  <a:cubicBezTo>
                    <a:pt x="31200" y="3000"/>
                    <a:pt x="12000" y="11040"/>
                    <a:pt x="12000" y="15000"/>
                  </a:cubicBezTo>
                  <a:cubicBezTo>
                    <a:pt x="12000" y="18960"/>
                    <a:pt x="31200" y="27000"/>
                    <a:pt x="60000" y="27000"/>
                  </a:cubicBezTo>
                  <a:close/>
                  <a:moveTo>
                    <a:pt x="108000" y="99000"/>
                  </a:moveTo>
                  <a:cubicBezTo>
                    <a:pt x="108000" y="102960"/>
                    <a:pt x="88800" y="111000"/>
                    <a:pt x="60000" y="111000"/>
                  </a:cubicBezTo>
                  <a:cubicBezTo>
                    <a:pt x="31200" y="111000"/>
                    <a:pt x="12000" y="102960"/>
                    <a:pt x="12000" y="99000"/>
                  </a:cubicBezTo>
                  <a:lnTo>
                    <a:pt x="12000" y="77160"/>
                  </a:lnTo>
                  <a:cubicBezTo>
                    <a:pt x="22980" y="83160"/>
                    <a:pt x="40200" y="87000"/>
                    <a:pt x="60000" y="87000"/>
                  </a:cubicBezTo>
                  <a:cubicBezTo>
                    <a:pt x="79800" y="87000"/>
                    <a:pt x="97020" y="83160"/>
                    <a:pt x="108000" y="77160"/>
                  </a:cubicBezTo>
                  <a:lnTo>
                    <a:pt x="108000" y="99000"/>
                  </a:lnTo>
                  <a:close/>
                  <a:moveTo>
                    <a:pt x="108000" y="69000"/>
                  </a:moveTo>
                  <a:cubicBezTo>
                    <a:pt x="108000" y="72960"/>
                    <a:pt x="88800" y="81000"/>
                    <a:pt x="60000" y="81000"/>
                  </a:cubicBezTo>
                  <a:cubicBezTo>
                    <a:pt x="31200" y="81000"/>
                    <a:pt x="12000" y="72960"/>
                    <a:pt x="12000" y="69000"/>
                  </a:cubicBezTo>
                  <a:lnTo>
                    <a:pt x="12000" y="47160"/>
                  </a:lnTo>
                  <a:cubicBezTo>
                    <a:pt x="22980" y="53160"/>
                    <a:pt x="40200" y="57000"/>
                    <a:pt x="60000" y="57000"/>
                  </a:cubicBezTo>
                  <a:cubicBezTo>
                    <a:pt x="79800" y="57000"/>
                    <a:pt x="97020" y="53160"/>
                    <a:pt x="108000" y="47160"/>
                  </a:cubicBezTo>
                  <a:lnTo>
                    <a:pt x="108000" y="69000"/>
                  </a:lnTo>
                  <a:close/>
                </a:path>
              </a:pathLst>
            </a:cu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685800" y="1371600"/>
              <a:ext cx="73914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CHECK Constraints</a:t>
              </a:r>
              <a:endParaRPr sz="16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Maintain valid operational states throughout the system lifecycle, such as capping sanction limits and restricting application statuses strictly to active, pending, or closed.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19" name="Google Shape;219;p17"/>
            <p:cNvCxnSpPr/>
            <p:nvPr/>
          </p:nvCxnSpPr>
          <p:spPr>
            <a:xfrm>
              <a:off x="304800" y="2286000"/>
              <a:ext cx="7772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323850" y="2533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cubicBezTo>
                    <a:pt x="26880" y="0"/>
                    <a:pt x="0" y="10740"/>
                    <a:pt x="0" y="24000"/>
                  </a:cubicBezTo>
                  <a:lnTo>
                    <a:pt x="0" y="96000"/>
                  </a:lnTo>
                  <a:cubicBezTo>
                    <a:pt x="0" y="109260"/>
                    <a:pt x="26880" y="120000"/>
                    <a:pt x="60000" y="120000"/>
                  </a:cubicBezTo>
                  <a:cubicBezTo>
                    <a:pt x="93120" y="120000"/>
                    <a:pt x="120000" y="109260"/>
                    <a:pt x="120000" y="96000"/>
                  </a:cubicBezTo>
                  <a:lnTo>
                    <a:pt x="120000" y="24000"/>
                  </a:lnTo>
                  <a:cubicBezTo>
                    <a:pt x="120000" y="10740"/>
                    <a:pt x="93120" y="0"/>
                    <a:pt x="60000" y="0"/>
                  </a:cubicBezTo>
                  <a:close/>
                  <a:moveTo>
                    <a:pt x="60000" y="27000"/>
                  </a:moveTo>
                  <a:cubicBezTo>
                    <a:pt x="88800" y="27000"/>
                    <a:pt x="108000" y="18960"/>
                    <a:pt x="108000" y="15000"/>
                  </a:cubicBezTo>
                  <a:cubicBezTo>
                    <a:pt x="108000" y="11040"/>
                    <a:pt x="88800" y="3000"/>
                    <a:pt x="60000" y="3000"/>
                  </a:cubicBezTo>
                  <a:cubicBezTo>
                    <a:pt x="31200" y="3000"/>
                    <a:pt x="12000" y="11040"/>
                    <a:pt x="12000" y="15000"/>
                  </a:cubicBezTo>
                  <a:cubicBezTo>
                    <a:pt x="12000" y="18960"/>
                    <a:pt x="31200" y="27000"/>
                    <a:pt x="60000" y="27000"/>
                  </a:cubicBezTo>
                  <a:close/>
                  <a:moveTo>
                    <a:pt x="108000" y="99000"/>
                  </a:moveTo>
                  <a:cubicBezTo>
                    <a:pt x="108000" y="102960"/>
                    <a:pt x="88800" y="111000"/>
                    <a:pt x="60000" y="111000"/>
                  </a:cubicBezTo>
                  <a:cubicBezTo>
                    <a:pt x="31200" y="111000"/>
                    <a:pt x="12000" y="102960"/>
                    <a:pt x="12000" y="99000"/>
                  </a:cubicBezTo>
                  <a:lnTo>
                    <a:pt x="12000" y="77160"/>
                  </a:lnTo>
                  <a:cubicBezTo>
                    <a:pt x="22980" y="83160"/>
                    <a:pt x="40200" y="87000"/>
                    <a:pt x="60000" y="87000"/>
                  </a:cubicBezTo>
                  <a:cubicBezTo>
                    <a:pt x="79800" y="87000"/>
                    <a:pt x="97020" y="83160"/>
                    <a:pt x="108000" y="77160"/>
                  </a:cubicBezTo>
                  <a:lnTo>
                    <a:pt x="108000" y="99000"/>
                  </a:lnTo>
                  <a:close/>
                  <a:moveTo>
                    <a:pt x="108000" y="69000"/>
                  </a:moveTo>
                  <a:cubicBezTo>
                    <a:pt x="108000" y="72960"/>
                    <a:pt x="88800" y="81000"/>
                    <a:pt x="60000" y="81000"/>
                  </a:cubicBezTo>
                  <a:cubicBezTo>
                    <a:pt x="31200" y="81000"/>
                    <a:pt x="12000" y="72960"/>
                    <a:pt x="12000" y="69000"/>
                  </a:cubicBezTo>
                  <a:lnTo>
                    <a:pt x="12000" y="47160"/>
                  </a:lnTo>
                  <a:cubicBezTo>
                    <a:pt x="22980" y="53160"/>
                    <a:pt x="40200" y="57000"/>
                    <a:pt x="60000" y="57000"/>
                  </a:cubicBezTo>
                  <a:cubicBezTo>
                    <a:pt x="79800" y="57000"/>
                    <a:pt x="97020" y="53160"/>
                    <a:pt x="108000" y="47160"/>
                  </a:cubicBezTo>
                  <a:lnTo>
                    <a:pt x="108000" y="69000"/>
                  </a:lnTo>
                  <a:close/>
                </a:path>
              </a:pathLst>
            </a:cu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685800" y="2476500"/>
              <a:ext cx="739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Foreign Keys</a:t>
              </a:r>
              <a:endParaRPr sz="16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Establish strict referential integrity between applications, bank details, and final disbursements, effectively preventing orphaned financial records and keeping relational structures cohesive.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22" name="Google Shape;222;p17" descr="File:Woxsen.png - Wikimedia Common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8"/>
          <p:cNvGrpSpPr/>
          <p:nvPr/>
        </p:nvGrpSpPr>
        <p:grpSpPr>
          <a:xfrm>
            <a:off x="381000" y="304800"/>
            <a:ext cx="723900" cy="38100"/>
            <a:chOff x="0" y="0"/>
            <a:chExt cx="723900" cy="38100"/>
          </a:xfrm>
        </p:grpSpPr>
        <p:sp>
          <p:nvSpPr>
            <p:cNvPr id="230" name="Google Shape;230;p18"/>
            <p:cNvSpPr/>
            <p:nvPr/>
          </p:nvSpPr>
          <p:spPr>
            <a:xfrm>
              <a:off x="0" y="0"/>
              <a:ext cx="5715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609600" y="0"/>
              <a:ext cx="114300" cy="38100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" name="Google Shape;232;p18"/>
          <p:cNvSpPr txBox="1"/>
          <p:nvPr/>
        </p:nvSpPr>
        <p:spPr>
          <a:xfrm>
            <a:off x="381000" y="4191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Sample Data &amp; Population</a:t>
            </a:r>
            <a:endParaRPr sz="2400" b="0">
              <a:solidFill>
                <a:srgbClr val="E6F1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33" name="Google Shape;233;p18"/>
          <p:cNvGrpSpPr/>
          <p:nvPr/>
        </p:nvGrpSpPr>
        <p:grpSpPr>
          <a:xfrm>
            <a:off x="242888" y="862013"/>
            <a:ext cx="8658300" cy="1114500"/>
            <a:chOff x="-138112" y="-14287"/>
            <a:chExt cx="8658300" cy="1114500"/>
          </a:xfrm>
        </p:grpSpPr>
        <p:pic>
          <p:nvPicPr>
            <p:cNvPr id="234" name="Google Shape;234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112" y="-14287"/>
              <a:ext cx="8658300" cy="11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8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name="adj" fmla="val 33333"/>
              </a:avLst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 txBox="1"/>
            <p:nvPr/>
          </p:nvSpPr>
          <p:spPr>
            <a:xfrm>
              <a:off x="228600" y="152400"/>
              <a:ext cx="79248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35" b="0">
                  <a:solidFill>
                    <a:srgbClr val="112240"/>
                  </a:solidFill>
                  <a:latin typeface="Inter"/>
                  <a:ea typeface="Inter"/>
                  <a:cs typeface="Inter"/>
                  <a:sym typeface="Inter"/>
                </a:rPr>
                <a:t>To validate our schema, we populated the relational tables with a realistic, comprehensive test dataset. This mock data spans all core entities, including extensive student profiles, active scholarship schemes, and corresponding application records. The data simulates various real-world scenarios, including partial disbursements and rejected sanctions, providing a rigorous foundation for testing complex SQL queries, validating constraint triggers, and ensuring the system performs accurately under typical administrative workloads.</a:t>
              </a:r>
              <a:endParaRPr sz="935" b="0">
                <a:solidFill>
                  <a:srgbClr val="11224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18"/>
          <p:cNvGrpSpPr/>
          <p:nvPr/>
        </p:nvGrpSpPr>
        <p:grpSpPr>
          <a:xfrm>
            <a:off x="242888" y="1976438"/>
            <a:ext cx="8658300" cy="2919300"/>
            <a:chOff x="-138112" y="-100012"/>
            <a:chExt cx="8658300" cy="2919300"/>
          </a:xfrm>
        </p:grpSpPr>
        <p:pic>
          <p:nvPicPr>
            <p:cNvPr id="238" name="Google Shape;238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138112" y="-100012"/>
              <a:ext cx="8658300" cy="29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18"/>
            <p:cNvSpPr/>
            <p:nvPr/>
          </p:nvSpPr>
          <p:spPr>
            <a:xfrm>
              <a:off x="0" y="0"/>
              <a:ext cx="8382000" cy="400200"/>
            </a:xfrm>
            <a:prstGeom prst="roundRect">
              <a:avLst>
                <a:gd name="adj" fmla="val 9523"/>
              </a:avLst>
            </a:prstGeom>
            <a:solidFill>
              <a:srgbClr val="F0F4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0" y="361950"/>
              <a:ext cx="8382000" cy="381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1" name="Google Shape;241;p18"/>
            <p:cNvCxnSpPr/>
            <p:nvPr/>
          </p:nvCxnSpPr>
          <p:spPr>
            <a:xfrm>
              <a:off x="0" y="4000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2" name="Google Shape;242;p18"/>
            <p:cNvSpPr txBox="1"/>
            <p:nvPr/>
          </p:nvSpPr>
          <p:spPr>
            <a:xfrm>
              <a:off x="228600" y="1143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Entity</a:t>
              </a:r>
              <a:endParaRPr sz="9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2038350" y="114300"/>
              <a:ext cx="2952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Sample Scenarios &amp; Data Attributes</a:t>
              </a:r>
              <a:endParaRPr sz="9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4" name="Google Shape;244;p18"/>
            <p:cNvSpPr txBox="1"/>
            <p:nvPr/>
          </p:nvSpPr>
          <p:spPr>
            <a:xfrm>
              <a:off x="5086350" y="11430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Population Volume</a:t>
              </a:r>
              <a:endParaRPr sz="9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6610350" y="114300"/>
              <a:ext cx="1543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Validation Target</a:t>
              </a:r>
              <a:endParaRPr sz="9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46" name="Google Shape;246;p18"/>
            <p:cNvCxnSpPr/>
            <p:nvPr/>
          </p:nvCxnSpPr>
          <p:spPr>
            <a:xfrm>
              <a:off x="0" y="9715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7" name="Google Shape;247;p18"/>
            <p:cNvSpPr txBox="1"/>
            <p:nvPr/>
          </p:nvSpPr>
          <p:spPr>
            <a:xfrm>
              <a:off x="228600" y="53340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Student Profiles</a:t>
              </a:r>
              <a:endParaRPr sz="10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2038350" y="5334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Demographics, academic standing, enrollment verification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5086350" y="5334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10,000 Profiles</a:t>
              </a:r>
              <a:endParaRPr sz="1000" b="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0" name="Google Shape;250;p18"/>
            <p:cNvSpPr txBox="1"/>
            <p:nvPr/>
          </p:nvSpPr>
          <p:spPr>
            <a:xfrm>
              <a:off x="6610350" y="533400"/>
              <a:ext cx="1543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FK Integrity &amp; Indexing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51" name="Google Shape;251;p18"/>
            <p:cNvCxnSpPr/>
            <p:nvPr/>
          </p:nvCxnSpPr>
          <p:spPr>
            <a:xfrm>
              <a:off x="0" y="15430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2" name="Google Shape;252;p18"/>
            <p:cNvSpPr txBox="1"/>
            <p:nvPr/>
          </p:nvSpPr>
          <p:spPr>
            <a:xfrm>
              <a:off x="228600" y="110490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Scholarship Schemes</a:t>
              </a:r>
              <a:endParaRPr sz="10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2038350" y="11049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Active funding rules, eligibility criteria, budget caps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" name="Google Shape;254;p18"/>
            <p:cNvSpPr txBox="1"/>
            <p:nvPr/>
          </p:nvSpPr>
          <p:spPr>
            <a:xfrm>
              <a:off x="5086350" y="11049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250 Active Schemes</a:t>
              </a:r>
              <a:endParaRPr sz="1000" b="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5" name="Google Shape;255;p18"/>
            <p:cNvSpPr txBox="1"/>
            <p:nvPr/>
          </p:nvSpPr>
          <p:spPr>
            <a:xfrm>
              <a:off x="6610350" y="1104900"/>
              <a:ext cx="1543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Constraint Triggers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56" name="Google Shape;256;p18"/>
            <p:cNvCxnSpPr/>
            <p:nvPr/>
          </p:nvCxnSpPr>
          <p:spPr>
            <a:xfrm>
              <a:off x="0" y="21145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6E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7" name="Google Shape;257;p18"/>
            <p:cNvSpPr txBox="1"/>
            <p:nvPr/>
          </p:nvSpPr>
          <p:spPr>
            <a:xfrm>
              <a:off x="228600" y="167640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Application Records</a:t>
              </a:r>
              <a:endParaRPr sz="10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8" name="Google Shape;258;p18"/>
            <p:cNvSpPr txBox="1"/>
            <p:nvPr/>
          </p:nvSpPr>
          <p:spPr>
            <a:xfrm>
              <a:off x="2038350" y="16764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Multi-tier submissions, pending reviews, approvals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9" name="Google Shape;259;p18"/>
            <p:cNvSpPr txBox="1"/>
            <p:nvPr/>
          </p:nvSpPr>
          <p:spPr>
            <a:xfrm>
              <a:off x="5086350" y="16764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45,000 Records</a:t>
              </a:r>
              <a:endParaRPr sz="1000" b="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0" name="Google Shape;260;p18"/>
            <p:cNvSpPr txBox="1"/>
            <p:nvPr/>
          </p:nvSpPr>
          <p:spPr>
            <a:xfrm>
              <a:off x="6610350" y="1676400"/>
              <a:ext cx="1543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Complex SQL Queries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1" name="Google Shape;261;p18"/>
            <p:cNvSpPr txBox="1"/>
            <p:nvPr/>
          </p:nvSpPr>
          <p:spPr>
            <a:xfrm>
              <a:off x="228600" y="224790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Disbursements &amp; Sanctions</a:t>
              </a:r>
              <a:endParaRPr sz="10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2" name="Google Shape;262;p18"/>
            <p:cNvSpPr txBox="1"/>
            <p:nvPr/>
          </p:nvSpPr>
          <p:spPr>
            <a:xfrm>
              <a:off x="2038350" y="22479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Partial disbursements, rejected sanctions, audit logs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5086350" y="22479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38,200 Transactions</a:t>
              </a:r>
              <a:endParaRPr sz="1000" b="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6610350" y="2247900"/>
              <a:ext cx="1543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Administrative Workloads</a:t>
              </a:r>
              <a:endParaRPr sz="10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65" name="Google Shape;265;p18" descr="File:Woxsen.png - Wikimedia Common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1" name="Google Shape;2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19"/>
          <p:cNvGrpSpPr/>
          <p:nvPr/>
        </p:nvGrpSpPr>
        <p:grpSpPr>
          <a:xfrm>
            <a:off x="381000" y="304800"/>
            <a:ext cx="8382000" cy="495300"/>
            <a:chOff x="381000" y="304800"/>
            <a:chExt cx="8382000" cy="495300"/>
          </a:xfrm>
        </p:grpSpPr>
        <p:grpSp>
          <p:nvGrpSpPr>
            <p:cNvPr id="273" name="Google Shape;273;p19"/>
            <p:cNvGrpSpPr/>
            <p:nvPr/>
          </p:nvGrpSpPr>
          <p:grpSpPr>
            <a:xfrm>
              <a:off x="381000" y="304800"/>
              <a:ext cx="723900" cy="38100"/>
              <a:chOff x="0" y="0"/>
              <a:chExt cx="723900" cy="38100"/>
            </a:xfrm>
          </p:grpSpPr>
          <p:sp>
            <p:nvSpPr>
              <p:cNvPr id="274" name="Google Shape;274;p19"/>
              <p:cNvSpPr/>
              <p:nvPr/>
            </p:nvSpPr>
            <p:spPr>
              <a:xfrm>
                <a:off x="0" y="0"/>
                <a:ext cx="5715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609600" y="0"/>
                <a:ext cx="114300" cy="38100"/>
              </a:xfrm>
              <a:prstGeom prst="rect">
                <a:avLst/>
              </a:prstGeom>
              <a:solidFill>
                <a:srgbClr val="64FFD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" name="Google Shape;276;p19"/>
            <p:cNvSpPr txBox="1"/>
            <p:nvPr/>
          </p:nvSpPr>
          <p:spPr>
            <a:xfrm>
              <a:off x="381000" y="4191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-GB" sz="2400" b="0">
                  <a:solidFill>
                    <a:srgbClr val="E6F1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 Implementation - Joins &amp; Subqueries</a:t>
              </a:r>
              <a:endParaRPr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77" name="Google Shape;277;p19"/>
          <p:cNvGrpSpPr/>
          <p:nvPr/>
        </p:nvGrpSpPr>
        <p:grpSpPr>
          <a:xfrm>
            <a:off x="242888" y="852488"/>
            <a:ext cx="4276800" cy="4086300"/>
            <a:chOff x="-138112" y="-100012"/>
            <a:chExt cx="4276800" cy="4086300"/>
          </a:xfrm>
        </p:grpSpPr>
        <p:pic>
          <p:nvPicPr>
            <p:cNvPr id="278" name="Google Shape;278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112" y="-100012"/>
              <a:ext cx="4276800" cy="40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228600" y="228600"/>
              <a:ext cx="3543300" cy="3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8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Relational Logic &amp; Analytics</a:t>
              </a:r>
              <a:endParaRPr sz="148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018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Our implementation leverages advanced SQL capabilities to extract actionable insights and execute robust operational queries across the system.</a:t>
              </a:r>
              <a:endParaRPr sz="1018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018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Relational Table Joins</a:t>
              </a:r>
              <a:endParaRPr sz="1018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18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Utilizes complex </a:t>
              </a:r>
              <a:r>
                <a:rPr lang="en-GB" sz="1018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INNER</a:t>
              </a:r>
              <a:r>
                <a:rPr lang="en-GB" sz="1018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lang="en-GB" sz="1018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LEFT JOINs</a:t>
              </a:r>
              <a:r>
                <a:rPr lang="en-GB" sz="1018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 to link Student, Application, and Scheme tables, efficiently isolating pending applications for administrative review.</a:t>
              </a:r>
              <a:endParaRPr sz="1018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018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Nested Financial Subqueries</a:t>
              </a:r>
              <a:endParaRPr sz="1018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18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Employs nested subqueries to calculate advanced financial metrics, identifying students whose total sanctioned amounts exceed the average scheme threshold.</a:t>
              </a:r>
              <a:endParaRPr sz="1018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018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Operational Precision</a:t>
              </a:r>
              <a:endParaRPr sz="1018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-GB" sz="1018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Demonstrates the system's ability to handle multi-table relational logic and deliver precise operational data.</a:t>
              </a:r>
              <a:endParaRPr sz="1018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1" name="Google Shape;281;p19"/>
          <p:cNvGrpSpPr/>
          <p:nvPr/>
        </p:nvGrpSpPr>
        <p:grpSpPr>
          <a:xfrm>
            <a:off x="4433888" y="852488"/>
            <a:ext cx="4467300" cy="4086300"/>
            <a:chOff x="-138112" y="-100012"/>
            <a:chExt cx="4467300" cy="4086300"/>
          </a:xfrm>
        </p:grpSpPr>
        <p:pic>
          <p:nvPicPr>
            <p:cNvPr id="282" name="Google Shape;282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138112" y="-100012"/>
              <a:ext cx="4467300" cy="40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19"/>
            <p:cNvSpPr/>
            <p:nvPr/>
          </p:nvSpPr>
          <p:spPr>
            <a:xfrm>
              <a:off x="0" y="0"/>
              <a:ext cx="41910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"/>
                  </a:moveTo>
                  <a:cubicBezTo>
                    <a:pt x="0" y="5373"/>
                    <a:pt x="488" y="0"/>
                    <a:pt x="1091" y="0"/>
                  </a:cubicBezTo>
                  <a:lnTo>
                    <a:pt x="118909" y="0"/>
                  </a:lnTo>
                  <a:cubicBezTo>
                    <a:pt x="119198" y="0"/>
                    <a:pt x="119476" y="1264"/>
                    <a:pt x="119680" y="3514"/>
                  </a:cubicBezTo>
                  <a:cubicBezTo>
                    <a:pt x="119885" y="5765"/>
                    <a:pt x="120000" y="8817"/>
                    <a:pt x="120000" y="1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0E6E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295275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44767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9"/>
            <p:cNvSpPr txBox="1"/>
            <p:nvPr/>
          </p:nvSpPr>
          <p:spPr>
            <a:xfrm>
              <a:off x="685800" y="95250"/>
              <a:ext cx="3276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49567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pending_applications_analysis.sql</a:t>
              </a:r>
              <a:endParaRPr sz="850" b="0">
                <a:solidFill>
                  <a:srgbClr val="49567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288" name="Google Shape;288;p19"/>
            <p:cNvSpPr txBox="1"/>
            <p:nvPr/>
          </p:nvSpPr>
          <p:spPr>
            <a:xfrm>
              <a:off x="190500" y="495300"/>
              <a:ext cx="38100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0" i="1">
                  <a:solidFill>
                    <a:srgbClr val="6E7DA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-- Isolate pending applications &amp; high sanctions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SELECT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std.student_id, std.name, app.amount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FROM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Student std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INNER JOIN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Application app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</a:t>
              </a: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ON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std.student_id = app.student_id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LEFT JOIN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Scheme sch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</a:t>
              </a: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ON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app.scheme_id = sch.scheme_id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WHERE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app.status = </a:t>
              </a:r>
              <a:r>
                <a:rPr lang="en-GB" sz="950" b="0">
                  <a:solidFill>
                    <a:srgbClr val="00875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'PENDING'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</a:t>
              </a: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AND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app.amount &gt; (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 i="1">
                  <a:solidFill>
                    <a:srgbClr val="6E7DA2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-- Financial metric: Exceeds average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SELECT AVG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(sub_app.amount)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FROM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Application sub_app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GB" sz="95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WHERE</a:t>
              </a: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sub_app.scheme_id = sch.scheme_id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GB" sz="950" b="0">
                  <a:solidFill>
                    <a:srgbClr val="11224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);</a:t>
              </a:r>
              <a:endParaRPr sz="950" b="0">
                <a:solidFill>
                  <a:srgbClr val="11224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289" name="Google Shape;289;p19" descr="File:Woxsen.png - Wikimedia Common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295" name="Google Shape;295;p20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296" name="Google Shape;296;p20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0B13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0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" name="Google Shape;298;p20"/>
            <p:cNvGrpSpPr/>
            <p:nvPr/>
          </p:nvGrpSpPr>
          <p:grpSpPr>
            <a:xfrm>
              <a:off x="381000" y="304800"/>
              <a:ext cx="723900" cy="38100"/>
              <a:chOff x="0" y="0"/>
              <a:chExt cx="723900" cy="38100"/>
            </a:xfrm>
          </p:grpSpPr>
          <p:sp>
            <p:nvSpPr>
              <p:cNvPr id="299" name="Google Shape;299;p20"/>
              <p:cNvSpPr/>
              <p:nvPr/>
            </p:nvSpPr>
            <p:spPr>
              <a:xfrm>
                <a:off x="0" y="0"/>
                <a:ext cx="5715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>
                <a:off x="609600" y="0"/>
                <a:ext cx="114300" cy="38100"/>
              </a:xfrm>
              <a:prstGeom prst="rect">
                <a:avLst/>
              </a:prstGeom>
              <a:solidFill>
                <a:srgbClr val="64FFD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" name="Google Shape;301;p20"/>
            <p:cNvSpPr txBox="1"/>
            <p:nvPr/>
          </p:nvSpPr>
          <p:spPr>
            <a:xfrm>
              <a:off x="381000" y="4191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-GB" sz="2400" b="0">
                  <a:solidFill>
                    <a:srgbClr val="E6F1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 Aggregations &amp; Views</a:t>
              </a:r>
              <a:endParaRPr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242888" y="852488"/>
            <a:ext cx="8658150" cy="4086300"/>
            <a:chOff x="-138112" y="-100012"/>
            <a:chExt cx="8658150" cy="4086300"/>
          </a:xfrm>
        </p:grpSpPr>
        <p:pic>
          <p:nvPicPr>
            <p:cNvPr id="303" name="Google Shape;303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38112" y="-100012"/>
              <a:ext cx="4371900" cy="40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0"/>
            <p:cNvSpPr/>
            <p:nvPr/>
          </p:nvSpPr>
          <p:spPr>
            <a:xfrm>
              <a:off x="0" y="0"/>
              <a:ext cx="4095900" cy="38100"/>
            </a:xfrm>
            <a:prstGeom prst="roundRect">
              <a:avLst>
                <a:gd name="adj" fmla="val 50000"/>
              </a:avLst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0"/>
            <p:cNvSpPr txBox="1"/>
            <p:nvPr/>
          </p:nvSpPr>
          <p:spPr>
            <a:xfrm>
              <a:off x="228600" y="228600"/>
              <a:ext cx="3638700" cy="3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 Aggregation Logic</a:t>
              </a:r>
              <a:endParaRPr sz="16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To support administrative decision-making, we implemented SQL aggregations using </a:t>
              </a:r>
              <a:r>
                <a:rPr lang="en-GB" sz="110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GROUP BY</a:t>
              </a: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 clauses with aggregate functions like </a:t>
              </a:r>
              <a:r>
                <a:rPr lang="en-GB" sz="110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SUM</a:t>
              </a: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lang="en-GB" sz="1100" b="0">
                  <a:solidFill>
                    <a:srgbClr val="0052CC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COUNT</a:t>
              </a: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The system generates real-time statistics on total funds disbursed and application volumes per scholarship scheme.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06" name="Google Shape;30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48138" y="-100012"/>
              <a:ext cx="4371900" cy="40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0"/>
            <p:cNvSpPr/>
            <p:nvPr/>
          </p:nvSpPr>
          <p:spPr>
            <a:xfrm>
              <a:off x="4286250" y="0"/>
              <a:ext cx="4095900" cy="38100"/>
            </a:xfrm>
            <a:prstGeom prst="roundRect">
              <a:avLst>
                <a:gd name="adj" fmla="val 50000"/>
              </a:avLst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4514850" y="228600"/>
              <a:ext cx="3638700" cy="3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Secure View Architecture</a:t>
              </a:r>
              <a:endParaRPr sz="16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We created secure SQL Views, which encapsulate complex joins to provide faculty and auditors with streamlined, read-only access to critical reporting metrics.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This architecture ensures precise reporting capabilities without exposing underlying table structures.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09" name="Google Shape;309;p20" descr="File:Woxsen.png - Wikimedia Common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15" name="Google Shape;315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6" name="Google Shape;316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" name="Google Shape;317;p21"/>
          <p:cNvGrpSpPr/>
          <p:nvPr/>
        </p:nvGrpSpPr>
        <p:grpSpPr>
          <a:xfrm>
            <a:off x="381000" y="304800"/>
            <a:ext cx="723900" cy="38100"/>
            <a:chOff x="0" y="0"/>
            <a:chExt cx="723900" cy="38100"/>
          </a:xfrm>
        </p:grpSpPr>
        <p:sp>
          <p:nvSpPr>
            <p:cNvPr id="318" name="Google Shape;318;p21"/>
            <p:cNvSpPr/>
            <p:nvPr/>
          </p:nvSpPr>
          <p:spPr>
            <a:xfrm>
              <a:off x="0" y="0"/>
              <a:ext cx="5715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609600" y="0"/>
              <a:ext cx="114300" cy="38100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" name="Google Shape;320;p21"/>
          <p:cNvSpPr txBox="1"/>
          <p:nvPr/>
        </p:nvSpPr>
        <p:spPr>
          <a:xfrm>
            <a:off x="381000" y="4191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Prototype Demonstration &amp; Progress</a:t>
            </a:r>
            <a:endParaRPr sz="2400" b="0">
              <a:solidFill>
                <a:srgbClr val="E6F1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21" name="Google Shape;321;p21"/>
          <p:cNvGrpSpPr/>
          <p:nvPr/>
        </p:nvGrpSpPr>
        <p:grpSpPr>
          <a:xfrm>
            <a:off x="247650" y="938213"/>
            <a:ext cx="8648700" cy="1114500"/>
            <a:chOff x="-133350" y="-14287"/>
            <a:chExt cx="8648700" cy="1114500"/>
          </a:xfrm>
        </p:grpSpPr>
        <p:grpSp>
          <p:nvGrpSpPr>
            <p:cNvPr id="322" name="Google Shape;322;p21"/>
            <p:cNvGrpSpPr/>
            <p:nvPr/>
          </p:nvGrpSpPr>
          <p:grpSpPr>
            <a:xfrm>
              <a:off x="-133350" y="-14287"/>
              <a:ext cx="2933700" cy="1114500"/>
              <a:chOff x="-133350" y="-14287"/>
              <a:chExt cx="2933700" cy="1114500"/>
            </a:xfrm>
          </p:grpSpPr>
          <p:pic>
            <p:nvPicPr>
              <p:cNvPr id="323" name="Google Shape;323;p2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33350" y="-14287"/>
                <a:ext cx="2933700" cy="11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4" name="Google Shape;324;p21"/>
              <p:cNvSpPr/>
              <p:nvPr/>
            </p:nvSpPr>
            <p:spPr>
              <a:xfrm>
                <a:off x="0" y="0"/>
                <a:ext cx="2667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1"/>
              <p:cNvSpPr txBox="1"/>
              <p:nvPr/>
            </p:nvSpPr>
            <p:spPr>
              <a:xfrm>
                <a:off x="152400" y="152400"/>
                <a:ext cx="2362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50" b="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MySQL Workbench</a:t>
                </a:r>
                <a:endParaRPr sz="185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900"/>
                  </a:spcAft>
                  <a:buNone/>
                </a:pPr>
                <a:r>
                  <a:rPr lang="en-GB" sz="925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Fully Operational Environment</a:t>
                </a:r>
                <a:endParaRPr sz="925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26" name="Google Shape;326;p21"/>
            <p:cNvGrpSpPr/>
            <p:nvPr/>
          </p:nvGrpSpPr>
          <p:grpSpPr>
            <a:xfrm>
              <a:off x="2724150" y="-14287"/>
              <a:ext cx="2933700" cy="1114500"/>
              <a:chOff x="-133350" y="-14287"/>
              <a:chExt cx="2933700" cy="1114500"/>
            </a:xfrm>
          </p:grpSpPr>
          <p:pic>
            <p:nvPicPr>
              <p:cNvPr id="327" name="Google Shape;327;p2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33350" y="-14287"/>
                <a:ext cx="2933700" cy="11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8" name="Google Shape;328;p21"/>
              <p:cNvSpPr/>
              <p:nvPr/>
            </p:nvSpPr>
            <p:spPr>
              <a:xfrm>
                <a:off x="0" y="0"/>
                <a:ext cx="2667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1"/>
              <p:cNvSpPr txBox="1"/>
              <p:nvPr/>
            </p:nvSpPr>
            <p:spPr>
              <a:xfrm>
                <a:off x="152400" y="152400"/>
                <a:ext cx="2362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100% Success</a:t>
                </a:r>
                <a:endParaRPr sz="20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900"/>
                  </a:spcAft>
                  <a:buNone/>
                </a:pPr>
                <a:r>
                  <a:rPr lang="en-GB" sz="10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DDL &amp; DML Script Execution</a:t>
                </a:r>
                <a:endParaRPr sz="10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0" name="Google Shape;330;p21"/>
            <p:cNvGrpSpPr/>
            <p:nvPr/>
          </p:nvGrpSpPr>
          <p:grpSpPr>
            <a:xfrm>
              <a:off x="5581650" y="-14287"/>
              <a:ext cx="2933700" cy="1114500"/>
              <a:chOff x="-133350" y="-14287"/>
              <a:chExt cx="2933700" cy="1114500"/>
            </a:xfrm>
          </p:grpSpPr>
          <p:pic>
            <p:nvPicPr>
              <p:cNvPr id="331" name="Google Shape;331;p2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33350" y="-14287"/>
                <a:ext cx="2933700" cy="11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1"/>
              <p:cNvSpPr/>
              <p:nvPr/>
            </p:nvSpPr>
            <p:spPr>
              <a:xfrm>
                <a:off x="0" y="0"/>
                <a:ext cx="2667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1"/>
              <p:cNvSpPr txBox="1"/>
              <p:nvPr/>
            </p:nvSpPr>
            <p:spPr>
              <a:xfrm>
                <a:off x="152400" y="152400"/>
                <a:ext cx="2362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 b="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ACID Compliant</a:t>
                </a:r>
                <a:endParaRPr sz="20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900"/>
                  </a:spcAft>
                  <a:buNone/>
                </a:pPr>
                <a:r>
                  <a:rPr lang="en-GB" sz="10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COMMIT &amp; ROLLBACK Verified</a:t>
                </a:r>
                <a:endParaRPr sz="10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34" name="Google Shape;334;p21"/>
          <p:cNvGrpSpPr/>
          <p:nvPr/>
        </p:nvGrpSpPr>
        <p:grpSpPr>
          <a:xfrm>
            <a:off x="242888" y="2100263"/>
            <a:ext cx="8658150" cy="2790900"/>
            <a:chOff x="-138112" y="-90487"/>
            <a:chExt cx="8658150" cy="2790900"/>
          </a:xfrm>
        </p:grpSpPr>
        <p:grpSp>
          <p:nvGrpSpPr>
            <p:cNvPr id="335" name="Google Shape;335;p21"/>
            <p:cNvGrpSpPr/>
            <p:nvPr/>
          </p:nvGrpSpPr>
          <p:grpSpPr>
            <a:xfrm>
              <a:off x="-138112" y="-90487"/>
              <a:ext cx="4371900" cy="2790900"/>
              <a:chOff x="-138112" y="-90487"/>
              <a:chExt cx="4371900" cy="2790900"/>
            </a:xfrm>
          </p:grpSpPr>
          <p:pic>
            <p:nvPicPr>
              <p:cNvPr id="336" name="Google Shape;336;p2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-138112" y="-90487"/>
                <a:ext cx="4371900" cy="2790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7" name="Google Shape;337;p21"/>
              <p:cNvSpPr/>
              <p:nvPr/>
            </p:nvSpPr>
            <p:spPr>
              <a:xfrm>
                <a:off x="0" y="0"/>
                <a:ext cx="40959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1"/>
              <p:cNvSpPr txBox="1"/>
              <p:nvPr/>
            </p:nvSpPr>
            <p:spPr>
              <a:xfrm>
                <a:off x="228600" y="190500"/>
                <a:ext cx="36387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Transaction Handling &amp; Integrity</a:t>
                </a:r>
                <a:endParaRPr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Integrated robust transaction control to guarantee strict data consistency across multi-step financial workflows.</a:t>
                </a:r>
                <a:endParaRPr sz="11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START TRANSACTION;</a:t>
                </a:r>
                <a:endParaRPr sz="1000" b="0">
                  <a:solidFill>
                    <a:srgbClr val="112240"/>
                  </a:solidFill>
                  <a:highlight>
                    <a:srgbClr val="F0F4F8"/>
                  </a:highlight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1000" b="0">
                    <a:solidFill>
                      <a:srgbClr val="49567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-- Multi-step financial disbursement</a:t>
                </a:r>
                <a:endParaRPr sz="1000" b="0">
                  <a:solidFill>
                    <a:srgbClr val="495670"/>
                  </a:solidFill>
                  <a:highlight>
                    <a:srgbClr val="F0F4F8"/>
                  </a:highlight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1000" b="0">
                    <a:solidFill>
                      <a:srgbClr val="112240"/>
                    </a:solidFill>
                    <a:highlight>
                      <a:srgbClr val="F0F4F8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EXECUTE UPDATE_DISBURSEMENT(...);</a:t>
                </a:r>
                <a:endParaRPr sz="1000" b="0">
                  <a:solidFill>
                    <a:srgbClr val="112240"/>
                  </a:solidFill>
                  <a:highlight>
                    <a:srgbClr val="F0F4F8"/>
                  </a:highlight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000" b="0">
                    <a:solidFill>
                      <a:srgbClr val="0052CC"/>
                    </a:solidFill>
                    <a:highlight>
                      <a:srgbClr val="F0F4F8"/>
                    </a:highlight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COMMIT; -- ROLLBACK on error</a:t>
                </a:r>
                <a:endParaRPr sz="1000" b="0">
                  <a:solidFill>
                    <a:srgbClr val="0052CC"/>
                  </a:solidFill>
                  <a:highlight>
                    <a:srgbClr val="F0F4F8"/>
                  </a:highlight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</p:grpSp>
        <p:grpSp>
          <p:nvGrpSpPr>
            <p:cNvPr id="339" name="Google Shape;339;p21"/>
            <p:cNvGrpSpPr/>
            <p:nvPr/>
          </p:nvGrpSpPr>
          <p:grpSpPr>
            <a:xfrm>
              <a:off x="4148138" y="-90487"/>
              <a:ext cx="4371900" cy="2790900"/>
              <a:chOff x="-138112" y="-90487"/>
              <a:chExt cx="4371900" cy="2790900"/>
            </a:xfrm>
          </p:grpSpPr>
          <p:pic>
            <p:nvPicPr>
              <p:cNvPr id="340" name="Google Shape;340;p2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-138112" y="-90487"/>
                <a:ext cx="4371900" cy="2790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" name="Google Shape;341;p21"/>
              <p:cNvSpPr/>
              <p:nvPr/>
            </p:nvSpPr>
            <p:spPr>
              <a:xfrm>
                <a:off x="0" y="0"/>
                <a:ext cx="40959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64FFD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1"/>
              <p:cNvSpPr txBox="1"/>
              <p:nvPr/>
            </p:nvSpPr>
            <p:spPr>
              <a:xfrm>
                <a:off x="228600" y="190500"/>
                <a:ext cx="36387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>
                    <a:solidFill>
                      <a:srgbClr val="1122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 Execution &amp; Verification</a:t>
                </a:r>
                <a:endParaRPr sz="16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110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Simulated concurrent administrative operations to validate real-time status updates and core system logic.</a:t>
                </a:r>
                <a:endParaRPr sz="11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052CC"/>
                    </a:solidFill>
                    <a:latin typeface="Inter"/>
                    <a:ea typeface="Inter"/>
                    <a:cs typeface="Inter"/>
                    <a:sym typeface="Inter"/>
                  </a:rPr>
                  <a:t>• Application Processing:</a:t>
                </a:r>
                <a:r>
                  <a:rPr lang="en-GB" sz="105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 Accurately ingests and parses submitted financial applications.</a:t>
                </a:r>
                <a:endParaRPr/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052CC"/>
                    </a:solidFill>
                    <a:latin typeface="Inter"/>
                    <a:ea typeface="Inter"/>
                    <a:cs typeface="Inter"/>
                    <a:sym typeface="Inter"/>
                  </a:rPr>
                  <a:t>• Sanction Statuses:</a:t>
                </a:r>
                <a:r>
                  <a:rPr lang="en-GB" sz="105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 Automatically updates approval state during state transitions.</a:t>
                </a:r>
                <a:endParaRPr/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052CC"/>
                    </a:solidFill>
                    <a:latin typeface="Inter"/>
                    <a:ea typeface="Inter"/>
                    <a:cs typeface="Inter"/>
                    <a:sym typeface="Inter"/>
                  </a:rPr>
                  <a:t>• Concurrency Control:</a:t>
                </a:r>
                <a:r>
                  <a:rPr lang="en-GB" sz="1050" b="0">
                    <a:solidFill>
                      <a:srgbClr val="495670"/>
                    </a:solidFill>
                    <a:latin typeface="Inter"/>
                    <a:ea typeface="Inter"/>
                    <a:cs typeface="Inter"/>
                    <a:sym typeface="Inter"/>
                  </a:rPr>
                  <a:t> Maintains absolute data integrity under simulated multi-user load.</a:t>
                </a:r>
                <a:endParaRPr/>
              </a:p>
            </p:txBody>
          </p:sp>
        </p:grpSp>
      </p:grpSp>
      <p:pic>
        <p:nvPicPr>
          <p:cNvPr id="343" name="Google Shape;343;p21" descr="File:Woxsen.png - Wikimedia Common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9" name="Google Shape;349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0" name="Google Shape;350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1" name="Google Shape;351;p22"/>
            <p:cNvGrpSpPr/>
            <p:nvPr/>
          </p:nvGrpSpPr>
          <p:grpSpPr>
            <a:xfrm>
              <a:off x="381000" y="304800"/>
              <a:ext cx="723900" cy="38100"/>
              <a:chOff x="0" y="0"/>
              <a:chExt cx="723900" cy="38100"/>
            </a:xfrm>
          </p:grpSpPr>
          <p:sp>
            <p:nvSpPr>
              <p:cNvPr id="352" name="Google Shape;352;p22"/>
              <p:cNvSpPr/>
              <p:nvPr/>
            </p:nvSpPr>
            <p:spPr>
              <a:xfrm>
                <a:off x="0" y="0"/>
                <a:ext cx="5715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2"/>
              <p:cNvSpPr/>
              <p:nvPr/>
            </p:nvSpPr>
            <p:spPr>
              <a:xfrm>
                <a:off x="609600" y="0"/>
                <a:ext cx="114300" cy="38100"/>
              </a:xfrm>
              <a:prstGeom prst="rect">
                <a:avLst/>
              </a:prstGeom>
              <a:solidFill>
                <a:srgbClr val="64FFD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4" name="Google Shape;354;p22"/>
            <p:cNvSpPr txBox="1"/>
            <p:nvPr/>
          </p:nvSpPr>
          <p:spPr>
            <a:xfrm>
              <a:off x="381000" y="4191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-GB" sz="2400" b="0">
                  <a:solidFill>
                    <a:srgbClr val="E6F1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Conclusion &amp; Q&amp;A</a:t>
              </a:r>
              <a:endParaRPr sz="2400" b="0">
                <a:solidFill>
                  <a:srgbClr val="E6F1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55" name="Google Shape;355;p22"/>
          <p:cNvGrpSpPr/>
          <p:nvPr/>
        </p:nvGrpSpPr>
        <p:grpSpPr>
          <a:xfrm>
            <a:off x="242888" y="890588"/>
            <a:ext cx="5229300" cy="4048200"/>
            <a:chOff x="-138112" y="-100012"/>
            <a:chExt cx="5229300" cy="4048200"/>
          </a:xfrm>
        </p:grpSpPr>
        <p:pic>
          <p:nvPicPr>
            <p:cNvPr id="356" name="Google Shape;356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112" y="-100012"/>
              <a:ext cx="5229300" cy="404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22"/>
            <p:cNvSpPr/>
            <p:nvPr/>
          </p:nvSpPr>
          <p:spPr>
            <a:xfrm>
              <a:off x="0" y="0"/>
              <a:ext cx="4953000" cy="38100"/>
            </a:xfrm>
            <a:prstGeom prst="roundRect">
              <a:avLst>
                <a:gd name="adj" fmla="val 50000"/>
              </a:avLst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 txBox="1"/>
            <p:nvPr/>
          </p:nvSpPr>
          <p:spPr>
            <a:xfrm>
              <a:off x="266700" y="228600"/>
              <a:ext cx="4419600" cy="331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Review 2 Summary</a:t>
              </a:r>
              <a:endParaRPr sz="1600" b="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1122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 Review 2, we have successfully delivered a fully normalized database schema, enforced business integrity constraints, and demonstrated complex SQL querying capabilities within MySQL Workbench.</a:t>
              </a:r>
              <a:endParaRPr sz="1200" b="0">
                <a:solidFill>
                  <a:srgbClr val="11224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The foundational architecture is stable, and the test data validates our relational logic.</a:t>
              </a:r>
              <a:endParaRPr sz="12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 are now prepared to transition into application integration.</a:t>
              </a:r>
              <a:endParaRPr sz="1200" b="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59" name="Google Shape;359;p22"/>
          <p:cNvGrpSpPr/>
          <p:nvPr/>
        </p:nvGrpSpPr>
        <p:grpSpPr>
          <a:xfrm>
            <a:off x="5386388" y="938213"/>
            <a:ext cx="3514800" cy="1933500"/>
            <a:chOff x="-138112" y="-52387"/>
            <a:chExt cx="3514800" cy="1933500"/>
          </a:xfrm>
        </p:grpSpPr>
        <p:pic>
          <p:nvPicPr>
            <p:cNvPr id="360" name="Google Shape;360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138112" y="-52387"/>
              <a:ext cx="3514800" cy="19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22"/>
            <p:cNvSpPr/>
            <p:nvPr/>
          </p:nvSpPr>
          <p:spPr>
            <a:xfrm>
              <a:off x="0" y="0"/>
              <a:ext cx="57300" cy="1790700"/>
            </a:xfrm>
            <a:prstGeom prst="roundRect">
              <a:avLst>
                <a:gd name="adj" fmla="val 33333"/>
              </a:avLst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247650" y="247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cubicBezTo>
                    <a:pt x="26880" y="0"/>
                    <a:pt x="0" y="10740"/>
                    <a:pt x="0" y="24000"/>
                  </a:cubicBezTo>
                  <a:lnTo>
                    <a:pt x="0" y="96000"/>
                  </a:lnTo>
                  <a:cubicBezTo>
                    <a:pt x="0" y="109260"/>
                    <a:pt x="26880" y="120000"/>
                    <a:pt x="60000" y="120000"/>
                  </a:cubicBezTo>
                  <a:cubicBezTo>
                    <a:pt x="93120" y="120000"/>
                    <a:pt x="120000" y="109260"/>
                    <a:pt x="120000" y="96000"/>
                  </a:cubicBezTo>
                  <a:lnTo>
                    <a:pt x="120000" y="24000"/>
                  </a:lnTo>
                  <a:cubicBezTo>
                    <a:pt x="120000" y="10740"/>
                    <a:pt x="93120" y="0"/>
                    <a:pt x="60000" y="0"/>
                  </a:cubicBezTo>
                  <a:close/>
                  <a:moveTo>
                    <a:pt x="60000" y="27000"/>
                  </a:moveTo>
                  <a:cubicBezTo>
                    <a:pt x="88800" y="27000"/>
                    <a:pt x="108000" y="18960"/>
                    <a:pt x="108000" y="15000"/>
                  </a:cubicBezTo>
                  <a:cubicBezTo>
                    <a:pt x="108000" y="11040"/>
                    <a:pt x="88800" y="3000"/>
                    <a:pt x="60000" y="3000"/>
                  </a:cubicBezTo>
                  <a:cubicBezTo>
                    <a:pt x="31200" y="3000"/>
                    <a:pt x="12000" y="11040"/>
                    <a:pt x="12000" y="15000"/>
                  </a:cubicBezTo>
                  <a:cubicBezTo>
                    <a:pt x="12000" y="18960"/>
                    <a:pt x="31200" y="27000"/>
                    <a:pt x="60000" y="27000"/>
                  </a:cubicBezTo>
                  <a:close/>
                  <a:moveTo>
                    <a:pt x="108000" y="99000"/>
                  </a:moveTo>
                  <a:cubicBezTo>
                    <a:pt x="108000" y="102960"/>
                    <a:pt x="88800" y="111000"/>
                    <a:pt x="60000" y="111000"/>
                  </a:cubicBezTo>
                  <a:cubicBezTo>
                    <a:pt x="31200" y="111000"/>
                    <a:pt x="12000" y="102960"/>
                    <a:pt x="12000" y="99000"/>
                  </a:cubicBezTo>
                  <a:lnTo>
                    <a:pt x="12000" y="77160"/>
                  </a:lnTo>
                  <a:cubicBezTo>
                    <a:pt x="22980" y="83160"/>
                    <a:pt x="40200" y="87000"/>
                    <a:pt x="60000" y="87000"/>
                  </a:cubicBezTo>
                  <a:cubicBezTo>
                    <a:pt x="79800" y="87000"/>
                    <a:pt x="97020" y="83160"/>
                    <a:pt x="108000" y="77160"/>
                  </a:cubicBezTo>
                  <a:lnTo>
                    <a:pt x="108000" y="99000"/>
                  </a:lnTo>
                  <a:close/>
                  <a:moveTo>
                    <a:pt x="108000" y="69000"/>
                  </a:moveTo>
                  <a:cubicBezTo>
                    <a:pt x="108000" y="72960"/>
                    <a:pt x="88800" y="81000"/>
                    <a:pt x="60000" y="81000"/>
                  </a:cubicBezTo>
                  <a:cubicBezTo>
                    <a:pt x="31200" y="81000"/>
                    <a:pt x="12000" y="72960"/>
                    <a:pt x="12000" y="69000"/>
                  </a:cubicBezTo>
                  <a:lnTo>
                    <a:pt x="12000" y="47160"/>
                  </a:lnTo>
                  <a:cubicBezTo>
                    <a:pt x="22980" y="53160"/>
                    <a:pt x="40200" y="57000"/>
                    <a:pt x="60000" y="57000"/>
                  </a:cubicBezTo>
                  <a:cubicBezTo>
                    <a:pt x="79800" y="57000"/>
                    <a:pt x="97020" y="53160"/>
                    <a:pt x="108000" y="47160"/>
                  </a:cubicBezTo>
                  <a:lnTo>
                    <a:pt x="108000" y="69000"/>
                  </a:lnTo>
                  <a:close/>
                </a:path>
              </a:pathLst>
            </a:cu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 txBox="1"/>
            <p:nvPr/>
          </p:nvSpPr>
          <p:spPr>
            <a:xfrm>
              <a:off x="552450" y="209550"/>
              <a:ext cx="2457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Readiness</a:t>
              </a:r>
              <a:endParaRPr sz="14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lang="en-GB" sz="1100" b="0">
                  <a:solidFill>
                    <a:srgbClr val="11224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Architecture is validated, fully tested, and ready for live query execution and application layer integration.</a:t>
              </a:r>
              <a:endParaRPr sz="1100" b="0">
                <a:solidFill>
                  <a:srgbClr val="11224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64" name="Google Shape;364;p22"/>
          <p:cNvGrpSpPr/>
          <p:nvPr/>
        </p:nvGrpSpPr>
        <p:grpSpPr>
          <a:xfrm>
            <a:off x="5386388" y="2919413"/>
            <a:ext cx="3514800" cy="1933500"/>
            <a:chOff x="-138112" y="-52387"/>
            <a:chExt cx="3514800" cy="1933500"/>
          </a:xfrm>
        </p:grpSpPr>
        <p:pic>
          <p:nvPicPr>
            <p:cNvPr id="365" name="Google Shape;365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138112" y="-52387"/>
              <a:ext cx="3514800" cy="19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2"/>
            <p:cNvSpPr/>
            <p:nvPr/>
          </p:nvSpPr>
          <p:spPr>
            <a:xfrm>
              <a:off x="0" y="0"/>
              <a:ext cx="57300" cy="1790700"/>
            </a:xfrm>
            <a:prstGeom prst="roundRect">
              <a:avLst>
                <a:gd name="adj" fmla="val 33333"/>
              </a:avLst>
            </a:pr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247650" y="2476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8000" y="0"/>
                  </a:moveTo>
                  <a:lnTo>
                    <a:pt x="12000" y="0"/>
                  </a:lnTo>
                  <a:cubicBezTo>
                    <a:pt x="5400" y="0"/>
                    <a:pt x="60" y="5400"/>
                    <a:pt x="60" y="12000"/>
                  </a:cubicBezTo>
                  <a:lnTo>
                    <a:pt x="0" y="120000"/>
                  </a:lnTo>
                  <a:lnTo>
                    <a:pt x="24000" y="96000"/>
                  </a:lnTo>
                  <a:lnTo>
                    <a:pt x="108000" y="96000"/>
                  </a:lnTo>
                  <a:cubicBezTo>
                    <a:pt x="114600" y="96000"/>
                    <a:pt x="120000" y="90600"/>
                    <a:pt x="120000" y="84000"/>
                  </a:cubicBezTo>
                  <a:lnTo>
                    <a:pt x="120000" y="12000"/>
                  </a:lnTo>
                  <a:cubicBezTo>
                    <a:pt x="120000" y="5400"/>
                    <a:pt x="114600" y="0"/>
                    <a:pt x="108000" y="0"/>
                  </a:cubicBezTo>
                  <a:close/>
                  <a:moveTo>
                    <a:pt x="66000" y="72000"/>
                  </a:moveTo>
                  <a:lnTo>
                    <a:pt x="54000" y="72000"/>
                  </a:lnTo>
                  <a:lnTo>
                    <a:pt x="54000" y="60000"/>
                  </a:lnTo>
                  <a:lnTo>
                    <a:pt x="66000" y="60000"/>
                  </a:lnTo>
                  <a:lnTo>
                    <a:pt x="66000" y="72000"/>
                  </a:lnTo>
                  <a:close/>
                  <a:moveTo>
                    <a:pt x="66000" y="48000"/>
                  </a:moveTo>
                  <a:lnTo>
                    <a:pt x="54000" y="48000"/>
                  </a:lnTo>
                  <a:lnTo>
                    <a:pt x="54000" y="24000"/>
                  </a:lnTo>
                  <a:lnTo>
                    <a:pt x="66000" y="24000"/>
                  </a:lnTo>
                  <a:lnTo>
                    <a:pt x="66000" y="48000"/>
                  </a:lnTo>
                  <a:close/>
                </a:path>
              </a:pathLst>
            </a:custGeom>
            <a:solidFill>
              <a:srgbClr val="0052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 txBox="1"/>
            <p:nvPr/>
          </p:nvSpPr>
          <p:spPr>
            <a:xfrm>
              <a:off x="552450" y="209550"/>
              <a:ext cx="24576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>
                  <a:solidFill>
                    <a:srgbClr val="11224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Panel Feedback &amp; Q&amp;A</a:t>
              </a:r>
              <a:endParaRPr sz="1400" b="0">
                <a:solidFill>
                  <a:srgbClr val="11224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lang="en-GB" sz="1100" b="0">
                  <a:solidFill>
                    <a:srgbClr val="495670"/>
                  </a:solidFill>
                  <a:latin typeface="Inter"/>
                  <a:ea typeface="Inter"/>
                  <a:cs typeface="Inter"/>
                  <a:sym typeface="Inter"/>
                </a:rPr>
                <a:t>We welcome the panel's feedback and are ready to execute live query demonstrations or answer any questions regarding the database design.</a:t>
              </a:r>
              <a:endParaRPr sz="1100" b="0">
                <a:solidFill>
                  <a:srgbClr val="495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69" name="Google Shape;369;p22" descr="File:Woxsen.png - Wikimedia Common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9825" y="-1"/>
            <a:ext cx="1350699" cy="7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Microsoft Office PowerPoint</Application>
  <PresentationFormat>On-screen Show (16:9)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JetBrains Mono</vt:lpstr>
      <vt:lpstr>Inter</vt:lpstr>
      <vt:lpstr>Inter SemiBold</vt:lpstr>
      <vt:lpstr>Inter Medium</vt:lpstr>
      <vt:lpstr>Arial</vt:lpstr>
      <vt:lpstr>JetBrains Mono Medium</vt:lpstr>
      <vt:lpstr>Nunito</vt:lpstr>
      <vt:lpstr>JetBrains Mono SemiBold</vt:lpstr>
      <vt:lpstr>Calibri</vt:lpstr>
      <vt:lpstr>Shift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manoj</dc:creator>
  <cp:lastModifiedBy>sai manoj</cp:lastModifiedBy>
  <cp:revision>1</cp:revision>
  <dcterms:modified xsi:type="dcterms:W3CDTF">2026-09-21T06:12:31Z</dcterms:modified>
</cp:coreProperties>
</file>